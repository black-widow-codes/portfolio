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256" r:id="rId2"/>
    <p:sldId id="274" r:id="rId3"/>
    <p:sldId id="275" r:id="rId4"/>
    <p:sldId id="523" r:id="rId5"/>
    <p:sldId id="524" r:id="rId6"/>
    <p:sldId id="481" r:id="rId7"/>
    <p:sldId id="525" r:id="rId8"/>
    <p:sldId id="529" r:id="rId9"/>
    <p:sldId id="530" r:id="rId10"/>
    <p:sldId id="477" r:id="rId11"/>
    <p:sldId id="478" r:id="rId12"/>
    <p:sldId id="531" r:id="rId13"/>
    <p:sldId id="447" r:id="rId14"/>
    <p:sldId id="518" r:id="rId15"/>
    <p:sldId id="519" r:id="rId16"/>
    <p:sldId id="520" r:id="rId17"/>
    <p:sldId id="283" r:id="rId18"/>
    <p:sldId id="526" r:id="rId19"/>
    <p:sldId id="259" r:id="rId20"/>
    <p:sldId id="486" r:id="rId21"/>
    <p:sldId id="489" r:id="rId22"/>
    <p:sldId id="505" r:id="rId23"/>
    <p:sldId id="261" r:id="rId24"/>
    <p:sldId id="487" r:id="rId25"/>
    <p:sldId id="488" r:id="rId26"/>
    <p:sldId id="506" r:id="rId27"/>
    <p:sldId id="272" r:id="rId28"/>
    <p:sldId id="273" r:id="rId29"/>
    <p:sldId id="287" r:id="rId30"/>
    <p:sldId id="288" r:id="rId31"/>
    <p:sldId id="527" r:id="rId32"/>
    <p:sldId id="472" r:id="rId33"/>
    <p:sldId id="291" r:id="rId34"/>
    <p:sldId id="507" r:id="rId35"/>
    <p:sldId id="508" r:id="rId36"/>
    <p:sldId id="509" r:id="rId37"/>
    <p:sldId id="270" r:id="rId38"/>
    <p:sldId id="292" r:id="rId39"/>
    <p:sldId id="293" r:id="rId40"/>
    <p:sldId id="295" r:id="rId41"/>
    <p:sldId id="510" r:id="rId42"/>
    <p:sldId id="296" r:id="rId43"/>
    <p:sldId id="297" r:id="rId44"/>
    <p:sldId id="306" r:id="rId45"/>
    <p:sldId id="515" r:id="rId46"/>
    <p:sldId id="516" r:id="rId47"/>
    <p:sldId id="517" r:id="rId48"/>
    <p:sldId id="308" r:id="rId49"/>
    <p:sldId id="512" r:id="rId50"/>
    <p:sldId id="513" r:id="rId51"/>
    <p:sldId id="514" r:id="rId52"/>
    <p:sldId id="309" r:id="rId53"/>
    <p:sldId id="311" r:id="rId54"/>
    <p:sldId id="313" r:id="rId55"/>
    <p:sldId id="528" r:id="rId56"/>
  </p:sldIdLst>
  <p:sldSz cx="9144000" cy="6858000" type="screen4x3"/>
  <p:notesSz cx="7004050" cy="92900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6" userDrawn="1">
          <p15:clr>
            <a:srgbClr val="A4A3A4"/>
          </p15:clr>
        </p15:guide>
        <p15:guide id="2" pos="220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339966"/>
    <a:srgbClr val="F0FFF0"/>
    <a:srgbClr val="3333FF"/>
    <a:srgbClr val="3333CC"/>
    <a:srgbClr val="009900"/>
    <a:srgbClr val="808080"/>
    <a:srgbClr val="8FFFD2"/>
    <a:srgbClr val="00FF99"/>
    <a:srgbClr val="A2CE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63" d="100"/>
          <a:sy n="63" d="100"/>
        </p:scale>
        <p:origin x="140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-2130" y="-90"/>
      </p:cViewPr>
      <p:guideLst>
        <p:guide orient="horz" pos="2926"/>
        <p:guide pos="220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5088" cy="464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04" tIns="46552" rIns="93104" bIns="4655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7341" y="0"/>
            <a:ext cx="3035088" cy="464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04" tIns="46552" rIns="93104" bIns="4655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3935"/>
            <a:ext cx="3035088" cy="464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04" tIns="46552" rIns="93104" bIns="4655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7341" y="8823935"/>
            <a:ext cx="3035088" cy="464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04" tIns="46552" rIns="93104" bIns="4655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138701A-496A-46B1-BB64-CF1D04C353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43568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5088" cy="464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04" tIns="46552" rIns="93104" bIns="4655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7341" y="0"/>
            <a:ext cx="3035088" cy="464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04" tIns="46552" rIns="93104" bIns="4655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9513" y="696913"/>
            <a:ext cx="4645025" cy="3482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405" y="4412774"/>
            <a:ext cx="5603240" cy="4180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04" tIns="46552" rIns="93104" bIns="465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3935"/>
            <a:ext cx="3035088" cy="464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04" tIns="46552" rIns="93104" bIns="4655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341" y="8823935"/>
            <a:ext cx="3035088" cy="464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04" tIns="46552" rIns="93104" bIns="4655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3920B5C-A9E0-42F8-B0D8-18C3E21EB0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35049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6CFDA-BA9A-4118-9995-01947E261DC7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Web Application Development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A4523E-7B4E-4306-9DD7-0C65B5C536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9968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14400"/>
            <a:ext cx="807720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5CF243-786F-4254-B068-4C9F0B6EA1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7726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0"/>
            <a:ext cx="7772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Web App Development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90600" y="914400"/>
            <a:ext cx="80010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600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339966"/>
                </a:solidFill>
                <a:latin typeface="Arial" charset="0"/>
              </a:defRPr>
            </a:lvl1pPr>
          </a:lstStyle>
          <a:p>
            <a:pPr>
              <a:defRPr/>
            </a:pPr>
            <a:fld id="{9561A2BC-730C-4E82-8855-BE79563A3DC6}" type="datetime1">
              <a:rPr lang="en-US" smtClean="0"/>
              <a:t>9/15/2026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248400"/>
            <a:ext cx="4572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339966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Web Application Development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43800" y="6245225"/>
            <a:ext cx="1143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339966"/>
                </a:solidFill>
              </a:defRPr>
            </a:lvl1pPr>
          </a:lstStyle>
          <a:p>
            <a:fld id="{1F038FB7-3440-4982-8E15-1047A8D5B201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031" name="Picture 7" descr="j0300520"/>
          <p:cNvPicPr>
            <a:picLocks noChangeAspect="1" noChangeArrowheads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8"/>
          <p:cNvSpPr>
            <a:spLocks noChangeShapeType="1"/>
          </p:cNvSpPr>
          <p:nvPr userDrawn="1"/>
        </p:nvSpPr>
        <p:spPr bwMode="auto">
          <a:xfrm>
            <a:off x="990600" y="838200"/>
            <a:ext cx="7696200" cy="0"/>
          </a:xfrm>
          <a:prstGeom prst="line">
            <a:avLst/>
          </a:prstGeom>
          <a:noFill/>
          <a:ln w="63500">
            <a:solidFill>
              <a:srgbClr val="00808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  <p:sp>
        <p:nvSpPr>
          <p:cNvPr id="1033" name="Line 9"/>
          <p:cNvSpPr>
            <a:spLocks noChangeShapeType="1"/>
          </p:cNvSpPr>
          <p:nvPr userDrawn="1"/>
        </p:nvSpPr>
        <p:spPr bwMode="auto">
          <a:xfrm>
            <a:off x="0" y="838200"/>
            <a:ext cx="0" cy="6019800"/>
          </a:xfrm>
          <a:prstGeom prst="line">
            <a:avLst/>
          </a:prstGeom>
          <a:noFill/>
          <a:ln w="1905000">
            <a:solidFill>
              <a:srgbClr val="A2CEB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339966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339966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339966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339966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339966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339966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339966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339966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33996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sz="2400">
          <a:solidFill>
            <a:srgbClr val="0066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400">
          <a:solidFill>
            <a:srgbClr val="0066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rgbClr val="00660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006600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>
          <a:solidFill>
            <a:srgbClr val="006600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400">
          <a:solidFill>
            <a:srgbClr val="006600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400">
          <a:solidFill>
            <a:srgbClr val="006600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400">
          <a:solidFill>
            <a:srgbClr val="006600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400">
          <a:solidFill>
            <a:srgbClr val="0066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.dev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js.org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reactjs-functional-components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0"/>
            <a:ext cx="7696200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Web Application Development</a:t>
            </a:r>
          </a:p>
        </p:txBody>
      </p:sp>
      <p:sp>
        <p:nvSpPr>
          <p:cNvPr id="2054" name="WordArt 7" descr="Paper bag"/>
          <p:cNvSpPr>
            <a:spLocks noChangeArrowheads="1" noChangeShapeType="1" noTextEdit="1"/>
          </p:cNvSpPr>
          <p:nvPr/>
        </p:nvSpPr>
        <p:spPr bwMode="auto">
          <a:xfrm>
            <a:off x="1828800" y="2438400"/>
            <a:ext cx="5562600" cy="16319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8000"/>
                  </a:solidFill>
                  <a:round/>
                  <a:headEnd/>
                  <a:tailEnd/>
                </a:ln>
                <a:blipFill dpi="0" rotWithShape="0">
                  <a:blip r:embed="rId2"/>
                  <a:srcRect/>
                  <a:tile tx="0" ty="0" sx="100000" sy="100000" flip="none" algn="tl"/>
                </a:blipFill>
                <a:effectLst>
                  <a:outerShdw dist="563972" dir="14049741" sx="125000" sy="125000" algn="tl" rotWithShape="0">
                    <a:srgbClr val="C7DFD3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COMP-229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B65A-4829-AD9D-E9A7-19BE23A55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6D8D6-7A70-C17C-E79E-879F69D3C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Meta Platforms created React for building user interfaces (UI).</a:t>
            </a:r>
          </a:p>
          <a:p>
            <a:r>
              <a:rPr lang="en-US" dirty="0"/>
              <a:t>React is a </a:t>
            </a:r>
            <a:r>
              <a:rPr lang="en-US" b="1" dirty="0"/>
              <a:t>JavaScript library</a:t>
            </a:r>
            <a:r>
              <a:rPr lang="en-US" dirty="0"/>
              <a:t>, not a framework. </a:t>
            </a:r>
          </a:p>
          <a:p>
            <a:r>
              <a:rPr lang="en-US" dirty="0"/>
              <a:t>It focuses mainly on the </a:t>
            </a:r>
            <a:r>
              <a:rPr lang="en-US" b="1" dirty="0"/>
              <a:t>view layer</a:t>
            </a:r>
            <a:r>
              <a:rPr lang="en-US" dirty="0"/>
              <a:t> of applications. </a:t>
            </a:r>
          </a:p>
          <a:p>
            <a:r>
              <a:rPr lang="en-US" dirty="0"/>
              <a:t>React applications are built using </a:t>
            </a:r>
            <a:r>
              <a:rPr lang="en-US" b="1" dirty="0"/>
              <a:t>components</a:t>
            </a:r>
            <a:r>
              <a:rPr lang="en-US" dirty="0"/>
              <a:t>. </a:t>
            </a:r>
          </a:p>
          <a:p>
            <a:r>
              <a:rPr lang="en-US" dirty="0"/>
              <a:t>React is commonly compared with: </a:t>
            </a:r>
          </a:p>
          <a:p>
            <a:pPr lvl="1"/>
            <a:r>
              <a:rPr lang="en-US" dirty="0"/>
              <a:t>Angular </a:t>
            </a:r>
          </a:p>
          <a:p>
            <a:pPr lvl="1"/>
            <a:r>
              <a:rPr lang="en-US" dirty="0"/>
              <a:t>Vue.js</a:t>
            </a:r>
          </a:p>
          <a:p>
            <a:pPr algn="l"/>
            <a:r>
              <a:rPr lang="en-US" b="0" i="0" dirty="0">
                <a:solidFill>
                  <a:srgbClr val="202122"/>
                </a:solidFill>
                <a:effectLst/>
                <a:latin typeface="undefined"/>
                <a:hlinkClick r:id="rId2"/>
              </a:rPr>
              <a:t>https://react.dev/</a:t>
            </a:r>
            <a:endParaRPr lang="en-US" b="0" i="0" dirty="0">
              <a:solidFill>
                <a:srgbClr val="202122"/>
              </a:solidFill>
              <a:effectLst/>
              <a:latin typeface="undefined"/>
            </a:endParaRPr>
          </a:p>
          <a:p>
            <a:pPr algn="l"/>
            <a:endParaRPr lang="en-US" b="0" i="0" dirty="0">
              <a:solidFill>
                <a:srgbClr val="202122"/>
              </a:solidFill>
              <a:effectLst/>
              <a:latin typeface="undefined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1151F-6ED0-86E5-D92E-0B1B70A01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73DFB-00C9-12BC-2D38-828C53EEA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90A14-BDBD-3679-F11C-91108483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2062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71CF6-D407-0FB6-C2F2-40A4B0DC0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create-react-app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25FEF-B8C6-C80F-AF47-D79B8AF9F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Creating a React App</a:t>
            </a:r>
          </a:p>
          <a:p>
            <a:r>
              <a:rPr lang="en-US" b="1" dirty="0"/>
              <a:t>Using Create React App</a:t>
            </a:r>
          </a:p>
          <a:p>
            <a:r>
              <a:rPr lang="en-US" dirty="0"/>
              <a:t>Create a folder in </a:t>
            </a:r>
            <a:r>
              <a:rPr lang="en-US" dirty="0" err="1"/>
              <a:t>vscode</a:t>
            </a:r>
            <a:r>
              <a:rPr lang="en-US" dirty="0"/>
              <a:t> or create a folder and open it in </a:t>
            </a:r>
            <a:r>
              <a:rPr lang="en-US" dirty="0" err="1"/>
              <a:t>vscode</a:t>
            </a:r>
            <a:endParaRPr lang="en-US" dirty="0"/>
          </a:p>
          <a:p>
            <a:r>
              <a:rPr lang="en-US" dirty="0"/>
              <a:t>At the terminal in your </a:t>
            </a:r>
            <a:r>
              <a:rPr lang="en-US" dirty="0" err="1"/>
              <a:t>vscode</a:t>
            </a:r>
            <a:r>
              <a:rPr lang="en-US" dirty="0"/>
              <a:t>,</a:t>
            </a:r>
          </a:p>
          <a:p>
            <a:r>
              <a:rPr lang="en-US" dirty="0"/>
              <a:t>To get started with create-react-app, install the package globally with the following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Install globally:</a:t>
            </a:r>
          </a:p>
          <a:p>
            <a:pPr marL="0" indent="0">
              <a:buNone/>
            </a:pPr>
            <a:r>
              <a:rPr lang="en-US" dirty="0" err="1"/>
              <a:t>npm</a:t>
            </a:r>
            <a:r>
              <a:rPr lang="en-US" dirty="0"/>
              <a:t> install -g create-react-app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C0578-A878-062F-A5E2-772E89C5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3104A-6E8D-587B-1DB0-6C55E6895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4A00A-D25E-64F4-4EF2-992F9F65A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719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3F99A-B1B4-E576-569B-28ADFBEB8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AEA9B-663A-D631-D433-E45DC2987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project:</a:t>
            </a:r>
          </a:p>
          <a:p>
            <a:pPr marL="0" indent="0">
              <a:buNone/>
            </a:pPr>
            <a:r>
              <a:rPr lang="en-US" dirty="0"/>
              <a:t>create-react-app my-react-app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Move into project:</a:t>
            </a:r>
          </a:p>
          <a:p>
            <a:pPr marL="0" indent="0">
              <a:buNone/>
            </a:pPr>
            <a:r>
              <a:rPr lang="en-US" dirty="0"/>
              <a:t>cd my-react-app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Start application:</a:t>
            </a:r>
          </a:p>
          <a:p>
            <a:pPr marL="0" indent="0">
              <a:buNone/>
            </a:pPr>
            <a:r>
              <a:rPr lang="en-US" b="1" dirty="0" err="1"/>
              <a:t>npm</a:t>
            </a:r>
            <a:r>
              <a:rPr lang="en-US" b="1" dirty="0"/>
              <a:t> start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b="1" dirty="0"/>
              <a:t>yarn start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will start your application on </a:t>
            </a:r>
            <a:r>
              <a:rPr lang="en-US" b="1" dirty="0"/>
              <a:t>port 3000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4A5F6-E9CB-58C0-9816-81469F55F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40BD4-F4D6-5F3A-8DB7-540597384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5ACC8-EB5F-9AA4-043C-F423676C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420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EB82C-84FF-D54E-E94C-89365B020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5865E-4299-E1D8-47D2-810316B35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Important Packages Installed</a:t>
            </a:r>
          </a:p>
          <a:p>
            <a:r>
              <a:rPr lang="en-US" dirty="0"/>
              <a:t>React </a:t>
            </a:r>
          </a:p>
          <a:p>
            <a:r>
              <a:rPr lang="en-US" dirty="0" err="1"/>
              <a:t>ReactDOM</a:t>
            </a:r>
            <a:r>
              <a:rPr lang="en-US" dirty="0"/>
              <a:t> </a:t>
            </a:r>
          </a:p>
          <a:p>
            <a:r>
              <a:rPr lang="en-US" dirty="0"/>
              <a:t>react-scripts </a:t>
            </a:r>
          </a:p>
          <a:p>
            <a:pPr marL="0" indent="0">
              <a:buNone/>
            </a:pPr>
            <a:r>
              <a:rPr lang="en-US" b="1" dirty="0"/>
              <a:t>Features Included Automatically</a:t>
            </a:r>
          </a:p>
          <a:p>
            <a:r>
              <a:rPr lang="en-US" dirty="0"/>
              <a:t>Babel </a:t>
            </a:r>
          </a:p>
          <a:p>
            <a:r>
              <a:rPr lang="en-US" dirty="0"/>
              <a:t>Webpack </a:t>
            </a:r>
          </a:p>
          <a:p>
            <a:r>
              <a:rPr lang="en-US" dirty="0" err="1"/>
              <a:t>ESLint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B11BA-18DC-A800-A737-1404B0A25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21412-F8EA-6946-7FB8-C6BD12099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E0727-D591-CBC8-135F-CF111E8F5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565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C3CC7-5BF5-4348-0D9A-47DFB5DC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2020BD3-A4F1-1806-F8DE-BE7C46A9D5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914400"/>
            <a:ext cx="8077200" cy="533082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D513B-BC64-9FE3-B93E-415E0336E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C808E-CE56-8B9C-B296-0891335FF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BA334-0010-AF68-C2C5-06F542CA6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368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A9326-508D-DABB-18EB-D0C5B92F4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Vite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2AEDB-BFD3-CA57-9DF0-35358963E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Vite is a faster modern tool for React projects.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</a:rPr>
              <a:t>Create a folder call WEEK2</a:t>
            </a:r>
            <a:br>
              <a:rPr lang="en-US" dirty="0">
                <a:latin typeface="Open Sans" panose="020B0606030504020204" pitchFamily="34" charset="0"/>
              </a:rPr>
            </a:br>
            <a:r>
              <a:rPr lang="en-US" dirty="0">
                <a:latin typeface="Arial" panose="020B0604020202020204" pitchFamily="34" charset="0"/>
              </a:rPr>
              <a:t>❑ For this, you need to have installed </a:t>
            </a:r>
            <a:r>
              <a:rPr lang="en-US" dirty="0" err="1">
                <a:latin typeface="Arial" panose="020B0604020202020204" pitchFamily="34" charset="0"/>
              </a:rPr>
              <a:t>npm</a:t>
            </a:r>
            <a:r>
              <a:rPr lang="en-US" dirty="0">
                <a:latin typeface="Arial" panose="020B0604020202020204" pitchFamily="34" charset="0"/>
              </a:rPr>
              <a:t> or yarn.</a:t>
            </a:r>
            <a:br>
              <a:rPr lang="en-US" dirty="0">
                <a:latin typeface="Open Sans" panose="020B0606030504020204" pitchFamily="34" charset="0"/>
              </a:rPr>
            </a:br>
            <a:r>
              <a:rPr lang="en-US" dirty="0">
                <a:latin typeface="Arial" panose="020B0604020202020204" pitchFamily="34" charset="0"/>
              </a:rPr>
              <a:t>❑ Open your terminal and write the following command:</a:t>
            </a:r>
          </a:p>
          <a:p>
            <a:pPr marL="0" indent="0">
              <a:buNone/>
            </a:pPr>
            <a:br>
              <a:rPr lang="en-US" dirty="0">
                <a:latin typeface="Open Sans" panose="020B0606030504020204" pitchFamily="34" charset="0"/>
              </a:rPr>
            </a:br>
            <a:r>
              <a:rPr lang="en-US" dirty="0">
                <a:latin typeface="Arial" panose="020B0604020202020204" pitchFamily="34" charset="0"/>
              </a:rPr>
              <a:t>yarn create </a:t>
            </a:r>
            <a:r>
              <a:rPr lang="en-US" dirty="0" err="1">
                <a:latin typeface="Arial" panose="020B0604020202020204" pitchFamily="34" charset="0"/>
              </a:rPr>
              <a:t>vite</a:t>
            </a:r>
            <a:r>
              <a:rPr lang="en-US" dirty="0">
                <a:latin typeface="Arial" panose="020B0604020202020204" pitchFamily="34" charset="0"/>
              </a:rPr>
              <a:t> app-name --template react # For yarn</a:t>
            </a:r>
          </a:p>
          <a:p>
            <a:pPr marL="0" indent="0">
              <a:buNone/>
            </a:pPr>
            <a:br>
              <a:rPr lang="en-US" dirty="0">
                <a:latin typeface="Open Sans" panose="020B0606030504020204" pitchFamily="34" charset="0"/>
              </a:rPr>
            </a:br>
            <a:r>
              <a:rPr lang="en-US" dirty="0" err="1">
                <a:latin typeface="Arial" panose="020B0604020202020204" pitchFamily="34" charset="0"/>
              </a:rPr>
              <a:t>npm</a:t>
            </a:r>
            <a:r>
              <a:rPr lang="en-US" dirty="0">
                <a:latin typeface="Arial" panose="020B0604020202020204" pitchFamily="34" charset="0"/>
              </a:rPr>
              <a:t> create </a:t>
            </a:r>
            <a:r>
              <a:rPr lang="en-US" dirty="0" err="1">
                <a:latin typeface="Arial" panose="020B0604020202020204" pitchFamily="34" charset="0"/>
              </a:rPr>
              <a:t>vite@latest</a:t>
            </a:r>
            <a:r>
              <a:rPr lang="en-US" dirty="0">
                <a:latin typeface="Arial" panose="020B0604020202020204" pitchFamily="34" charset="0"/>
              </a:rPr>
              <a:t> app-name --template react # For </a:t>
            </a:r>
            <a:r>
              <a:rPr lang="en-US" dirty="0" err="1">
                <a:latin typeface="Arial" panose="020B0604020202020204" pitchFamily="34" charset="0"/>
              </a:rPr>
              <a:t>npm</a:t>
            </a:r>
            <a:endParaRPr lang="en-US" dirty="0">
              <a:latin typeface="Arial" panose="020B0604020202020204" pitchFamily="34" charset="0"/>
            </a:endParaRPr>
          </a:p>
          <a:p>
            <a:pPr marL="0" indent="0">
              <a:buNone/>
            </a:pPr>
            <a:br>
              <a:rPr lang="en-US" dirty="0">
                <a:latin typeface="Open Sans" panose="020B0606030504020204" pitchFamily="34" charset="0"/>
              </a:rPr>
            </a:br>
            <a:r>
              <a:rPr lang="en-US" dirty="0">
                <a:latin typeface="Arial" panose="020B0604020202020204" pitchFamily="34" charset="0"/>
              </a:rPr>
              <a:t>In this case my app-name is client, so I will have:</a:t>
            </a:r>
            <a:br>
              <a:rPr lang="en-US" dirty="0">
                <a:latin typeface="Open Sans" panose="020B0606030504020204" pitchFamily="34" charset="0"/>
              </a:rPr>
            </a:br>
            <a:r>
              <a:rPr lang="en-US" dirty="0">
                <a:latin typeface="Arial" panose="020B0604020202020204" pitchFamily="34" charset="0"/>
              </a:rPr>
              <a:t>yarn create </a:t>
            </a:r>
            <a:r>
              <a:rPr lang="en-US" dirty="0" err="1">
                <a:latin typeface="Arial" panose="020B0604020202020204" pitchFamily="34" charset="0"/>
              </a:rPr>
              <a:t>vite</a:t>
            </a:r>
            <a:r>
              <a:rPr lang="en-US" dirty="0">
                <a:latin typeface="Arial" panose="020B0604020202020204" pitchFamily="34" charset="0"/>
              </a:rPr>
              <a:t> client --template react # For yarn</a:t>
            </a:r>
            <a:br>
              <a:rPr lang="en-US" dirty="0">
                <a:latin typeface="Open Sans" panose="020B0606030504020204" pitchFamily="34" charset="0"/>
              </a:rPr>
            </a:br>
            <a:r>
              <a:rPr lang="en-US" dirty="0" err="1">
                <a:latin typeface="Arial" panose="020B0604020202020204" pitchFamily="34" charset="0"/>
              </a:rPr>
              <a:t>npm</a:t>
            </a:r>
            <a:r>
              <a:rPr lang="en-US" dirty="0">
                <a:latin typeface="Arial" panose="020B0604020202020204" pitchFamily="34" charset="0"/>
              </a:rPr>
              <a:t> create </a:t>
            </a:r>
            <a:r>
              <a:rPr lang="en-US" dirty="0" err="1">
                <a:latin typeface="Arial" panose="020B0604020202020204" pitchFamily="34" charset="0"/>
              </a:rPr>
              <a:t>vite@latest</a:t>
            </a:r>
            <a:r>
              <a:rPr lang="en-US" dirty="0">
                <a:latin typeface="Arial" panose="020B0604020202020204" pitchFamily="34" charset="0"/>
              </a:rPr>
              <a:t> client --template react # For </a:t>
            </a:r>
            <a:r>
              <a:rPr lang="en-US" dirty="0" err="1">
                <a:latin typeface="Arial" panose="020B0604020202020204" pitchFamily="34" charset="0"/>
              </a:rPr>
              <a:t>npm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3EBFB-26BE-46F7-283C-E82C50FFF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210C2-183D-D4B4-663D-44828D12E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36606-3FE4-E833-18EC-9243CD728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7341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F1EBE-BF1C-CF87-9315-3E0A050C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47602-2478-6D7C-5E07-AA4BC3A5D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Select Yes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Open the link in the browser or hold down the ctrl key and click on the link.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DB6E2-E38B-3A61-DBD2-F44586D72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3C99B-EFD8-C12D-C960-8500B9FEC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3F39A-A748-4108-6DD1-728466E6B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8</a:t>
            </a:fld>
            <a:endParaRPr lang="en-US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A18110-0AE6-433E-1C92-5B618A70A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" y="1066800"/>
            <a:ext cx="7467599" cy="16066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0877E9-7456-7C51-C49B-DA727BB63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371726"/>
            <a:ext cx="7467599" cy="162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371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629DF-5204-B890-65AF-19CC42DC3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89CD04A-912C-7E5D-9941-1F6CAAE6C0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90600" y="1066800"/>
            <a:ext cx="76962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33BFB-CA97-48A5-D0E2-FEC7DFF61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C71D7-3E07-762B-2BE9-115376003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0FD13-FF07-325E-B8B4-CE2BBC58B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5693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9DA4-5535-6851-5AC0-7286A5A43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i="0" dirty="0">
                <a:solidFill>
                  <a:srgbClr val="008000"/>
                </a:solidFill>
                <a:effectLst/>
                <a:latin typeface="sohne"/>
              </a:rPr>
            </a:br>
            <a:r>
              <a:rPr lang="en-US" b="1" i="0" dirty="0">
                <a:solidFill>
                  <a:srgbClr val="008000"/>
                </a:solidFill>
                <a:effectLst/>
                <a:latin typeface="sohne"/>
              </a:rPr>
              <a:t>Configuring Vite - </a:t>
            </a:r>
            <a:r>
              <a:rPr lang="en-US" dirty="0"/>
              <a:t>Vite Configuration</a:t>
            </a:r>
            <a:br>
              <a:rPr lang="en-US" b="1" i="0" dirty="0">
                <a:solidFill>
                  <a:srgbClr val="292929"/>
                </a:solidFill>
                <a:effectLst/>
                <a:latin typeface="sohne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308A-66DC-8920-DD5A-65AF47CF3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8000"/>
                </a:solidFill>
                <a:effectLst/>
                <a:latin typeface="source-serif-pro"/>
              </a:rPr>
              <a:t>We’re going to configure 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source-serif-pro"/>
              </a:rPr>
              <a:t>vite</a:t>
            </a:r>
            <a:r>
              <a:rPr lang="en-US" b="0" i="0" dirty="0">
                <a:solidFill>
                  <a:srgbClr val="008000"/>
                </a:solidFill>
                <a:effectLst/>
                <a:latin typeface="source-serif-pro"/>
              </a:rPr>
              <a:t>, open the file vite.config.js</a:t>
            </a:r>
          </a:p>
          <a:p>
            <a:r>
              <a:rPr lang="en-US" b="0" i="0" dirty="0">
                <a:solidFill>
                  <a:srgbClr val="008000"/>
                </a:solidFill>
                <a:effectLst/>
                <a:latin typeface="source-serif-pro"/>
              </a:rPr>
              <a:t>and overwrite its content with the following:</a:t>
            </a:r>
          </a:p>
          <a:p>
            <a:endParaRPr lang="en-US" sz="24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import {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defineConfig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} from "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vite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import react from "@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vitejs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/plugin-react";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export default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defineConfig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plugins: [react()],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build: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manifest: true,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rollupOptions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input: "./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20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main.jsx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",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EECF9-9353-81AE-AB8F-2831A5CA9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3E053-E203-06DD-F0F4-8F1C743D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057AD-E87B-83D1-1435-9487A0D76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8408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092CC-99D9-D76C-8D07-F8B9865E1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008000"/>
                </a:solidFill>
                <a:effectLst/>
                <a:latin typeface="sohne"/>
              </a:rPr>
              <a:t>Configuring Vite contd.</a:t>
            </a: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231EED-E6A6-02A2-3698-EA23C9F32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Purpose</a:t>
            </a:r>
          </a:p>
          <a:p>
            <a:r>
              <a:rPr lang="en-US" dirty="0"/>
              <a:t>Configures React plugin </a:t>
            </a:r>
          </a:p>
          <a:p>
            <a:r>
              <a:rPr lang="en-US" dirty="0"/>
              <a:t>Sets entry point to 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main.jsx</a:t>
            </a:r>
            <a:r>
              <a:rPr lang="en-US" dirty="0"/>
              <a:t> instead of the default index.html</a:t>
            </a:r>
          </a:p>
          <a:p>
            <a:endParaRPr lang="en-US" b="0" i="0" dirty="0">
              <a:solidFill>
                <a:srgbClr val="008000"/>
              </a:solidFill>
              <a:effectLst/>
              <a:latin typeface="source-serif-pro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10EA4-1681-B175-574D-AC75482F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39B18-7EA4-E2E4-8392-E98E5D015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9E4F2-F863-B3A6-F937-04E2F72D6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1089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49D16-AFA3-E0FE-4B9D-7026396C5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6BEAD-0181-9A9C-BC36-F2AEC5207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200" b="1" u="sng" dirty="0"/>
              <a:t>Install dependencies</a:t>
            </a:r>
          </a:p>
          <a:p>
            <a:r>
              <a:rPr lang="en-US" sz="2200" dirty="0"/>
              <a:t>Enter to the project folder and install the dependencies:</a:t>
            </a:r>
            <a:br>
              <a:rPr lang="en-US" sz="2200" dirty="0"/>
            </a:br>
            <a:r>
              <a:rPr lang="en-US" sz="2200" dirty="0"/>
              <a:t>❑ cd client</a:t>
            </a:r>
          </a:p>
          <a:p>
            <a:r>
              <a:rPr lang="en-US" sz="2200" dirty="0"/>
              <a:t>yarn # For yarn</a:t>
            </a:r>
          </a:p>
          <a:p>
            <a:r>
              <a:rPr lang="en-US" sz="2200" dirty="0"/>
              <a:t>OR</a:t>
            </a:r>
            <a:br>
              <a:rPr lang="en-US" sz="2200" dirty="0"/>
            </a:br>
            <a:r>
              <a:rPr lang="en-US" sz="2200" dirty="0" err="1"/>
              <a:t>npm</a:t>
            </a:r>
            <a:r>
              <a:rPr lang="en-US" sz="2200" dirty="0"/>
              <a:t> install # For </a:t>
            </a:r>
            <a:r>
              <a:rPr lang="en-US" sz="2200" dirty="0" err="1"/>
              <a:t>npm</a:t>
            </a:r>
            <a:endParaRPr lang="en-US" sz="2200" dirty="0"/>
          </a:p>
          <a:p>
            <a:r>
              <a:rPr lang="en-US" sz="2200" dirty="0"/>
              <a:t>You should have the following folder structure:</a:t>
            </a:r>
          </a:p>
          <a:p>
            <a:pPr marL="0" indent="0">
              <a:buNone/>
            </a:pPr>
            <a:r>
              <a:rPr lang="en-US" sz="2200" b="1" u="sng" dirty="0"/>
              <a:t>Run application</a:t>
            </a:r>
          </a:p>
          <a:p>
            <a:pPr lvl="0"/>
            <a:r>
              <a:rPr lang="en-US" sz="2200" dirty="0"/>
              <a:t>From within the WEEK2 folder, cd client you can run</a:t>
            </a:r>
          </a:p>
          <a:p>
            <a:r>
              <a:rPr lang="en-US" sz="2200" dirty="0"/>
              <a:t> </a:t>
            </a:r>
            <a:r>
              <a:rPr lang="en-US" sz="2200" b="1" dirty="0"/>
              <a:t>yarn dev</a:t>
            </a:r>
            <a:endParaRPr lang="en-US" sz="2200" dirty="0"/>
          </a:p>
          <a:p>
            <a:r>
              <a:rPr lang="en-US" sz="2200" b="1" dirty="0"/>
              <a:t> or</a:t>
            </a:r>
            <a:endParaRPr lang="en-US" sz="2200" dirty="0"/>
          </a:p>
          <a:p>
            <a:r>
              <a:rPr lang="en-US" sz="2200" b="1" dirty="0"/>
              <a:t> </a:t>
            </a:r>
            <a:r>
              <a:rPr lang="en-US" sz="2200" b="1" dirty="0" err="1"/>
              <a:t>npm</a:t>
            </a:r>
            <a:r>
              <a:rPr lang="en-US" sz="2200" b="1" dirty="0"/>
              <a:t> run dev. </a:t>
            </a:r>
            <a:endParaRPr lang="en-US" sz="2200" dirty="0"/>
          </a:p>
          <a:p>
            <a:pPr lvl="0"/>
            <a:r>
              <a:rPr lang="en-US" sz="2200" dirty="0"/>
              <a:t>This will start your application.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110DD-7B4C-57E0-DBB1-2FAB0380B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1B1DB-5F16-D702-ECCD-2B7786E46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AA680-DE68-26A7-C128-628980E77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7662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AC1E3-451B-8B4B-83A5-1806FA052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Page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AE29F-89F2-1F12-2A40-FD31D9C67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Inorder</a:t>
            </a:r>
            <a:r>
              <a:rPr lang="en-US" dirty="0"/>
              <a:t> to work with React in the browser, we need to include two libraries: </a:t>
            </a:r>
          </a:p>
          <a:p>
            <a:r>
              <a:rPr lang="en-US" dirty="0"/>
              <a:t>React and </a:t>
            </a:r>
          </a:p>
          <a:p>
            <a:r>
              <a:rPr lang="en-US" dirty="0" err="1"/>
              <a:t>ReactDOM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React is the library for creating views. </a:t>
            </a:r>
          </a:p>
          <a:p>
            <a:r>
              <a:rPr lang="en-US" dirty="0" err="1"/>
              <a:t>ReactDOM</a:t>
            </a:r>
            <a:r>
              <a:rPr lang="en-US" dirty="0"/>
              <a:t> is the library used to actually render the UI in the browser. </a:t>
            </a:r>
          </a:p>
          <a:p>
            <a:r>
              <a:rPr lang="en-US" dirty="0"/>
              <a:t>Both libraries are available as scripts from the </a:t>
            </a:r>
            <a:r>
              <a:rPr lang="en-US" dirty="0" err="1"/>
              <a:t>unpkg</a:t>
            </a:r>
            <a:r>
              <a:rPr lang="en-US" dirty="0"/>
              <a:t> CDN.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FBF54-906B-439E-AC33-7B27395AC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B9506-8B8D-BBF3-67D1-F4DD7D426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5C07F-F4EB-18B7-4663-DB14A4FB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2300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1348F-5C78-0268-A764-645118119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3CDEE-0E33-4B7B-0C4F-CFA4F04B7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also use </a:t>
            </a:r>
            <a:r>
              <a:rPr lang="en-US" b="1" dirty="0" err="1"/>
              <a:t>npx</a:t>
            </a:r>
            <a:r>
              <a:rPr lang="en-US" b="1" dirty="0"/>
              <a:t> create-</a:t>
            </a:r>
            <a:r>
              <a:rPr lang="en-US" b="1" dirty="0" err="1"/>
              <a:t>vite</a:t>
            </a:r>
            <a:r>
              <a:rPr lang="en-US" b="1" dirty="0"/>
              <a:t> </a:t>
            </a:r>
            <a:r>
              <a:rPr lang="en-US" dirty="0"/>
              <a:t>to spin up your react application using </a:t>
            </a:r>
            <a:r>
              <a:rPr lang="en-US" dirty="0" err="1"/>
              <a:t>vite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If it gives you an error first install it globally using the following command:</a:t>
            </a:r>
          </a:p>
          <a:p>
            <a:pPr marL="0" indent="0">
              <a:buNone/>
            </a:pPr>
            <a:r>
              <a:rPr lang="en-US" dirty="0" err="1"/>
              <a:t>npm</a:t>
            </a:r>
            <a:r>
              <a:rPr lang="en-US" dirty="0"/>
              <a:t> install –g create-</a:t>
            </a:r>
            <a:r>
              <a:rPr lang="en-US" dirty="0" err="1"/>
              <a:t>vite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Then;</a:t>
            </a:r>
          </a:p>
          <a:p>
            <a:pPr marL="0" indent="0">
              <a:buNone/>
            </a:pPr>
            <a:r>
              <a:rPr lang="en-US" dirty="0" err="1"/>
              <a:t>npx</a:t>
            </a:r>
            <a:r>
              <a:rPr lang="en-US" dirty="0"/>
              <a:t> create-</a:t>
            </a:r>
            <a:r>
              <a:rPr lang="en-US" dirty="0" err="1"/>
              <a:t>vite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Press enter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278B8-DF2C-EE7F-2B7B-B74D965DC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DB4C6-2BE9-0E84-6069-9993BF074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19400" y="6245225"/>
            <a:ext cx="4572000" cy="476250"/>
          </a:xfrm>
        </p:spPr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1C511-2534-91EA-8DFF-9B0C7D200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14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B5AC4F-69FE-F411-69FE-FB03B6C90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4267200"/>
            <a:ext cx="7467600" cy="114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53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DD4AB-CF6B-7691-8139-1C3C12016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0BD6A-DD51-FC1C-1B66-202C294FE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the project name to client</a:t>
            </a:r>
          </a:p>
          <a:p>
            <a:r>
              <a:rPr lang="en-US" dirty="0"/>
              <a:t>Select React</a:t>
            </a:r>
          </a:p>
          <a:p>
            <a:r>
              <a:rPr lang="en-US" dirty="0"/>
              <a:t>Select JavaScript</a:t>
            </a:r>
          </a:p>
          <a:p>
            <a:r>
              <a:rPr lang="en-US" dirty="0"/>
              <a:t>Install with </a:t>
            </a:r>
            <a:r>
              <a:rPr lang="en-US" dirty="0" err="1"/>
              <a:t>npm</a:t>
            </a:r>
            <a:r>
              <a:rPr lang="en-US" dirty="0"/>
              <a:t> and start now? Select Yes and press enter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CB233-062A-D336-69CA-477F0383F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F6900-5D1D-9981-1542-50784DD7C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57CF4-24CC-70D6-D59F-D567BF95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15</a:t>
            </a:fld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B466D0-CE8B-C977-1F02-E965C9C66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434080"/>
            <a:ext cx="7543800" cy="175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183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5876A-142F-3832-B13A-A0B22B55B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B7D19-AC22-7930-E9F3-84D4BF99B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DB95D-6F36-6020-D178-E1AF110D5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CA6AC-6DAC-0917-5687-B7BAF534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16</a:t>
            </a:fld>
            <a:endParaRPr lang="en-US" altLang="en-US"/>
          </a:p>
        </p:txBody>
      </p:sp>
      <p:pic>
        <p:nvPicPr>
          <p:cNvPr id="9" name="Content Placeholder 7">
            <a:extLst>
              <a:ext uri="{FF2B5EF4-FFF2-40B4-BE49-F238E27FC236}">
                <a16:creationId xmlns:a16="http://schemas.microsoft.com/office/drawing/2014/main" id="{575B01C7-6616-A56D-3854-8148208900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990600" y="990600"/>
            <a:ext cx="80772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6904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F1F8B-C81A-0BCC-C666-9391EACC3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React Features</a:t>
            </a:r>
            <a:endParaRPr lang="en-US" b="1" dirty="0">
              <a:solidFill>
                <a:srgbClr val="008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AC3D0-21F7-CEC9-EEE9-2F68B15B6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14399"/>
            <a:ext cx="8077200" cy="5330825"/>
          </a:xfrm>
        </p:spPr>
        <p:txBody>
          <a:bodyPr/>
          <a:lstStyle/>
          <a:p>
            <a:r>
              <a:rPr lang="en-US" b="0" i="0" dirty="0">
                <a:solidFill>
                  <a:srgbClr val="008000"/>
                </a:solidFill>
                <a:effectLst/>
                <a:latin typeface="undefin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React</a:t>
            </a:r>
            <a:r>
              <a:rPr lang="en-US" b="0" i="0" dirty="0">
                <a:solidFill>
                  <a:srgbClr val="008000"/>
                </a:solidFill>
                <a:effectLst/>
                <a:latin typeface="undefined"/>
              </a:rPr>
              <a:t> has some core features that make it stand out from other JavaScript libraries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</a:rPr>
              <a:t>Features such as:</a:t>
            </a:r>
          </a:p>
          <a:p>
            <a:r>
              <a:rPr lang="en-US" dirty="0">
                <a:solidFill>
                  <a:srgbClr val="008000"/>
                </a:solidFill>
              </a:rPr>
              <a:t>Components Based structure</a:t>
            </a:r>
          </a:p>
          <a:p>
            <a:pPr marL="0" indent="0">
              <a:buNone/>
            </a:pPr>
            <a:r>
              <a:rPr lang="en-US" dirty="0"/>
              <a:t>Applications are divided into reusable components.</a:t>
            </a:r>
            <a:endParaRPr lang="en-US" dirty="0">
              <a:solidFill>
                <a:srgbClr val="008000"/>
              </a:solidFill>
            </a:endParaRPr>
          </a:p>
          <a:p>
            <a:r>
              <a:rPr lang="en-US" dirty="0">
                <a:solidFill>
                  <a:srgbClr val="008000"/>
                </a:solidFill>
              </a:rPr>
              <a:t>JSX</a:t>
            </a:r>
          </a:p>
          <a:p>
            <a:pPr marL="0" indent="0">
              <a:buNone/>
            </a:pPr>
            <a:r>
              <a:rPr lang="en-US" dirty="0"/>
              <a:t>Allows writing HTML inside JavaScript.</a:t>
            </a:r>
            <a:endParaRPr lang="en-US" dirty="0">
              <a:solidFill>
                <a:srgbClr val="008000"/>
              </a:solidFill>
            </a:endParaRPr>
          </a:p>
          <a:p>
            <a:r>
              <a:rPr lang="en-US" dirty="0">
                <a:solidFill>
                  <a:srgbClr val="008000"/>
                </a:solidFill>
              </a:rPr>
              <a:t>Virtual DOM</a:t>
            </a:r>
          </a:p>
          <a:p>
            <a:pPr marL="0" indent="0">
              <a:buNone/>
            </a:pPr>
            <a:r>
              <a:rPr lang="en-US" dirty="0"/>
              <a:t>Improves performance by updating only changed parts.</a:t>
            </a:r>
            <a:endParaRPr lang="en-US" dirty="0">
              <a:solidFill>
                <a:srgbClr val="008000"/>
              </a:solidFill>
            </a:endParaRPr>
          </a:p>
          <a:p>
            <a:r>
              <a:rPr lang="en-US" dirty="0">
                <a:solidFill>
                  <a:srgbClr val="008000"/>
                </a:solidFill>
              </a:rPr>
              <a:t>One-way Data Binding</a:t>
            </a:r>
          </a:p>
          <a:p>
            <a:pPr marL="0" indent="0">
              <a:buNone/>
            </a:pPr>
            <a:r>
              <a:rPr lang="en-US" dirty="0"/>
              <a:t>Data flows from parent to child components.</a:t>
            </a:r>
            <a:endParaRPr lang="en-US" dirty="0">
              <a:solidFill>
                <a:srgbClr val="008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8000"/>
              </a:solidFill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BA638-4297-9EF2-8132-877DE6C2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33BD8-1F66-2205-C21E-BE08FA5EF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0A4EC-CF3A-5877-4777-B98ED017A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163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FBAA3-A807-6C71-77F2-841C63D9C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1F43D-94B1-3085-4E45-BAC2BAE97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8000"/>
                </a:solidFill>
              </a:rPr>
              <a:t>Extensions</a:t>
            </a:r>
          </a:p>
          <a:p>
            <a:pPr marL="0" indent="0">
              <a:buNone/>
            </a:pPr>
            <a:r>
              <a:rPr lang="en-US" dirty="0"/>
              <a:t>Supports:</a:t>
            </a:r>
          </a:p>
          <a:p>
            <a:r>
              <a:rPr lang="en-US" dirty="0"/>
              <a:t>Redux </a:t>
            </a:r>
          </a:p>
          <a:p>
            <a:r>
              <a:rPr lang="en-US" dirty="0"/>
              <a:t>Flux </a:t>
            </a:r>
          </a:p>
          <a:p>
            <a:r>
              <a:rPr lang="en-US" dirty="0"/>
              <a:t>React Native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D8D0F-75E7-465D-4220-4D01BAFD8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CE74B-883C-E03F-C1F8-7EE10E299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9D8BD-0110-7ACA-C0B3-E5C0796F4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3602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D03A0-F7B0-A21A-C77C-F5AFA998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r>
              <a:rPr lang="en-US" b="1" i="0" dirty="0">
                <a:solidFill>
                  <a:srgbClr val="008000"/>
                </a:solidFill>
                <a:effectLst/>
                <a:latin typeface="Nunito" pitchFamily="2" charset="0"/>
              </a:rPr>
              <a:t>Types of components in ReactJS</a:t>
            </a:r>
            <a:br>
              <a:rPr lang="en-US" b="1" i="0" dirty="0">
                <a:solidFill>
                  <a:srgbClr val="008000"/>
                </a:solidFill>
                <a:effectLst/>
                <a:latin typeface="Nunito" pitchFamily="2" charset="0"/>
              </a:rPr>
            </a:br>
            <a:endParaRPr lang="en-US" dirty="0">
              <a:solidFill>
                <a:srgbClr val="008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44850-753F-DE01-56FA-A05DEDDCA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 fontAlgn="base"/>
            <a:r>
              <a:rPr lang="en-US" b="0" i="0" dirty="0">
                <a:solidFill>
                  <a:srgbClr val="008000"/>
                </a:solidFill>
                <a:effectLst/>
                <a:latin typeface="Nunito" pitchFamily="2" charset="0"/>
              </a:rPr>
              <a:t>In React, we mainly have two types of components: </a:t>
            </a:r>
          </a:p>
          <a:p>
            <a:pPr algn="l" rtl="0" fontAlgn="base"/>
            <a:r>
              <a:rPr lang="en-US" b="1" i="0" u="sng" dirty="0">
                <a:solidFill>
                  <a:srgbClr val="008000"/>
                </a:solidFill>
                <a:effectLst/>
                <a:latin typeface="Nunito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Functional Components</a:t>
            </a:r>
            <a:r>
              <a:rPr lang="en-US" b="0" i="0" dirty="0">
                <a:solidFill>
                  <a:srgbClr val="008000"/>
                </a:solidFill>
                <a:effectLst/>
                <a:latin typeface="Nunito" pitchFamily="2" charset="0"/>
              </a:rPr>
              <a:t>: Functional components are simply </a:t>
            </a:r>
            <a:r>
              <a:rPr lang="en-US" dirty="0">
                <a:solidFill>
                  <a:srgbClr val="008000"/>
                </a:solidFill>
                <a:latin typeface="Nunito" pitchFamily="2" charset="0"/>
              </a:rPr>
              <a:t>J</a:t>
            </a:r>
            <a:r>
              <a:rPr lang="en-US" b="0" i="0" dirty="0">
                <a:solidFill>
                  <a:srgbClr val="008000"/>
                </a:solidFill>
                <a:effectLst/>
                <a:latin typeface="Nunito" pitchFamily="2" charset="0"/>
              </a:rPr>
              <a:t>avaScript functions. </a:t>
            </a:r>
          </a:p>
          <a:p>
            <a:pPr marL="0" indent="0" algn="l" rtl="0" fontAlgn="base">
              <a:buNone/>
            </a:pPr>
            <a:endParaRPr lang="en-US" b="0" i="0" dirty="0">
              <a:solidFill>
                <a:srgbClr val="008000"/>
              </a:solidFill>
              <a:effectLst/>
              <a:latin typeface="Nunito" pitchFamily="2" charset="0"/>
            </a:endParaRPr>
          </a:p>
          <a:p>
            <a:pPr marL="0" indent="0">
              <a:buNone/>
            </a:pPr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DemoComponent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return (</a:t>
            </a:r>
          </a:p>
          <a:p>
            <a:pPr marL="0" indent="0">
              <a:buNone/>
            </a:pPr>
            <a:r>
              <a:rPr lang="en-US" dirty="0"/>
              <a:t>    &lt;h1&gt;Welcome Message!&lt;/h1&gt;</a:t>
            </a:r>
          </a:p>
          <a:p>
            <a:pPr marL="0" indent="0">
              <a:buNone/>
            </a:pPr>
            <a:r>
              <a:rPr lang="en-US" dirty="0"/>
              <a:t>  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5EA94-DDF8-BE93-DC32-32F5DD3DE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C3BBF-B961-6D22-EC34-8486E277D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3927F-BC59-86AC-F81F-380ABA170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0920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E42A7-5C6F-7030-036F-0D07BD5D1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</a:t>
            </a:r>
            <a:r>
              <a:rPr lang="en-US" dirty="0" err="1"/>
              <a:t>App.jsx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D60EF-9D45-AC89-7B17-9EF37ACA5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import './App.css'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function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D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ecomponent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return (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&lt;div&gt;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&lt;h1&gt;Welcome Message!&lt;/h1&gt;;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&lt;/div&gt;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export default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D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ecomponent</a:t>
            </a: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42056-B57B-7450-2174-8E984082D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7F014-B8ED-D990-3C0B-2AC253006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446E1-5158-4474-EF45-063418EA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2217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7794A-5448-EA3C-44B4-6C8F1F129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</a:t>
            </a:r>
            <a:r>
              <a:rPr lang="en-US" dirty="0" err="1"/>
              <a:t>main.jsx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07CC0-9FA6-F8AB-D9AF-7C3B8643B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import {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StrictMode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} from "react";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import {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createRoot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} from "react-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/client";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import "./index.css";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Decomponent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from "./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App.jsx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createRoot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("root")).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render(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StrictMode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Decomponent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/&gt;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&lt;/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StrictMode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567AD-D396-4147-DBB5-0259F57D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A52D5-6765-80A2-0CB9-AC6EB515B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F1CA9-0A8C-A50A-47F6-B6FCD23CE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8616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6FE13-E39B-8323-2634-C88B3B3DB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0D9FA4D-2738-32C9-CBEC-7B0192CCC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914401"/>
            <a:ext cx="8077200" cy="533082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7B096-AC2F-67C3-8A21-EA21697B5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34000-A432-296A-E967-06D001F7A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6DE2C-1790-7DD3-A3B0-106F84C3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9351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ED895-FA27-3FE8-271A-972BBC958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2BC32-C502-F772-C7D5-E70FB80C0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Class components use ES6 classes.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</a:rPr>
              <a:t>class </a:t>
            </a:r>
            <a:r>
              <a:rPr lang="en-US" dirty="0" err="1">
                <a:solidFill>
                  <a:srgbClr val="008000"/>
                </a:solidFill>
              </a:rPr>
              <a:t>Democomponent</a:t>
            </a:r>
            <a:r>
              <a:rPr lang="en-US" dirty="0">
                <a:solidFill>
                  <a:srgbClr val="008000"/>
                </a:solidFill>
              </a:rPr>
              <a:t> extends </a:t>
            </a:r>
            <a:r>
              <a:rPr lang="en-US" dirty="0" err="1">
                <a:solidFill>
                  <a:srgbClr val="008000"/>
                </a:solidFill>
              </a:rPr>
              <a:t>React.Component</a:t>
            </a:r>
            <a:r>
              <a:rPr lang="en-US" dirty="0">
                <a:solidFill>
                  <a:srgbClr val="008000"/>
                </a:solidFill>
              </a:rPr>
              <a:t> {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</a:rPr>
              <a:t>  render() {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</a:rPr>
              <a:t>    return &lt;h1&gt;Welcome Message!&lt;/h1&gt;;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</a:rPr>
              <a:t>  }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</a:rPr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DF239-C20C-0D62-A731-AB9457EFB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E2313-27AC-845A-1C2F-BE75068DF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0588C-F1E5-C873-0858-7B88753D3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595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FD59-11FE-BD82-D387-CD6D0D0C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</a:t>
            </a:r>
            <a:r>
              <a:rPr lang="en-US" dirty="0" err="1"/>
              <a:t>App.jsx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0A87D-958C-CFB9-9ABB-EA9EDCBB3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import React from 'react'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import './App.css'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Democomponent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extends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React.Component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render() {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return (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    &lt;div&gt;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&lt;h1&gt;Welcome Message!&lt;/h1&gt;;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&lt;/div&gt;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);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export default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Democomponent</a:t>
            </a: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8FB7F-B1CA-7FD3-6642-83B0470FB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B70B3-94E3-54F1-6A0B-D44B723C3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52AB5-4685-41C4-69A1-194E795A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2888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AAC4D-450F-443D-EB7B-DFE224C0F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</a:t>
            </a:r>
            <a:r>
              <a:rPr lang="en-US" dirty="0" err="1"/>
              <a:t>main.jsx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FAAA4-2E9E-C164-AC33-346AA5102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import {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StrictMode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} from "react";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import {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createRoot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} from "react-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/client";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import "./index.css";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Democomponent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from "./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App.jsx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createRoot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("root")).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render(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StrictMode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Democomponent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/&gt;</a:t>
            </a: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&lt;/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StrictMode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ts val="1425"/>
              </a:lnSpc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B7282-D4C7-21E2-AAFC-758AD16AC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EF68B-078E-6A0D-1BC6-82F9AF4E4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FBDB3-87FA-67F5-6ED1-A3A7C035C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6553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BB0C2-3B45-308D-7920-6CB45FB91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32AB38A-025C-A52A-DB79-B04ED4AB69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914400"/>
            <a:ext cx="7696200" cy="52578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DE895-866E-429E-2DFB-50099E3B8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8F3D1-CC4B-E7DB-C1E0-B650E4CE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3D363-633F-FFA5-ACBE-8D484BE67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43997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C49A0-0F34-E7DC-D1A8-6935B46C2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E965B-7689-B75B-0422-93383BDD1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Navigate to the </a:t>
            </a:r>
            <a:r>
              <a:rPr lang="en-US" sz="28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App.jsx</a:t>
            </a:r>
            <a:r>
              <a:rPr lang="en-US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file replace the existing code with the following code:</a:t>
            </a:r>
          </a:p>
          <a:p>
            <a:pPr marL="0" indent="0">
              <a:buNone/>
            </a:pP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25ED9-076A-513B-0AE1-44267CED9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D7976-E054-EB68-2898-EAD065F49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4FAD1-4EA6-D830-D528-FE80020BE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82671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CD884-5FED-5D83-3DCE-374B26B32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</a:t>
            </a:r>
            <a:r>
              <a:rPr lang="en-US" dirty="0" err="1"/>
              <a:t>App.jsx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F385F-8A69-2A34-EEEA-1C36CED59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import React from "react";</a:t>
            </a:r>
            <a:endParaRPr lang="en-US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import "./App.css";</a:t>
            </a:r>
            <a:endParaRPr lang="en-US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// This is a functional component</a:t>
            </a:r>
            <a:endParaRPr lang="en-US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const Welcome = () =&gt; {</a:t>
            </a:r>
            <a:endParaRPr lang="en-US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return (</a:t>
            </a:r>
            <a:endParaRPr lang="en-US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&lt;div&gt;</a:t>
            </a:r>
            <a:endParaRPr lang="en-US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  &lt;h1&gt;Hello World!&lt;/h1&gt;;</a:t>
            </a:r>
            <a:endParaRPr lang="en-US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&lt;/div&gt;</a:t>
            </a:r>
            <a:endParaRPr lang="en-US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);</a:t>
            </a:r>
            <a:endParaRPr lang="en-US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  <a:endParaRPr lang="en-US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export default Welcome</a:t>
            </a:r>
            <a:endParaRPr lang="en-US" sz="18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14ABE-F8A1-9114-5DEC-7946F1090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E2C68-A079-3AA4-598D-D804BB465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C8263-DD84-DCA1-CC17-6A418E5FB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67962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B922B-C986-D481-FF52-EF5735878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</a:t>
            </a:r>
            <a:r>
              <a:rPr lang="en-US" dirty="0" err="1"/>
              <a:t>main.jsx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434EF-F544-92F7-0A7B-D24FD2813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import { </a:t>
            </a:r>
            <a:r>
              <a:rPr lang="en-US" sz="20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StrictMode</a:t>
            </a:r>
            <a:r>
              <a:rPr lang="en-US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} from "react";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import { </a:t>
            </a:r>
            <a:r>
              <a:rPr lang="en-US" sz="20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createRoot</a:t>
            </a:r>
            <a:r>
              <a:rPr lang="en-US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} from "react-</a:t>
            </a:r>
            <a:r>
              <a:rPr lang="en-US" sz="20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dom</a:t>
            </a:r>
            <a:r>
              <a:rPr lang="en-US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/client";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import "./index.css";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import Welcome from "./</a:t>
            </a:r>
            <a:r>
              <a:rPr lang="en-US" sz="20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App.jsx</a:t>
            </a:r>
            <a:r>
              <a:rPr lang="en-US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";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createRoot</a:t>
            </a:r>
            <a:r>
              <a:rPr lang="en-US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document.getElementById</a:t>
            </a:r>
            <a:r>
              <a:rPr lang="en-US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("root")).render(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&lt;</a:t>
            </a:r>
            <a:r>
              <a:rPr lang="en-US" sz="20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StrictMode</a:t>
            </a:r>
            <a:r>
              <a:rPr lang="en-US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&lt;Welcome /&gt;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&lt;/</a:t>
            </a:r>
            <a:r>
              <a:rPr lang="en-US" sz="20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StrictMode</a:t>
            </a:r>
            <a:r>
              <a:rPr lang="en-US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  <a:endParaRPr lang="en-US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D78D0-943D-5E02-F70C-7BB7817E4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B9E4D-14A3-278E-530E-FAD9FBB26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427CD-07F7-8DDD-969E-39C90FDFC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12608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C48A5-C406-D602-AD11-686BD15E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066B5-9059-5403-2D4F-E6DF8876F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Output is as follows: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F8033-ACD5-F6B1-8FD7-114BCAF0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4CC9A-6A52-7688-3E19-D38986BC8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B0E6F-7467-E66F-8F57-903328376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30</a:t>
            </a:fld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92701C-6516-B19A-FDA4-49AD8F835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524000"/>
            <a:ext cx="75438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734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105DB-C13D-85A8-CEAA-C30A03C0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ReactDOM.render</a:t>
            </a:r>
            <a:r>
              <a:rPr lang="en-US" dirty="0"/>
              <a:t> vs </a:t>
            </a:r>
            <a:r>
              <a:rPr lang="en-US" dirty="0" err="1"/>
              <a:t>createRoot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FE35F-E5A4-3D1F-200A-F4D554619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Old Method</a:t>
            </a:r>
          </a:p>
          <a:p>
            <a:pPr marL="0" indent="0">
              <a:buNone/>
            </a:pPr>
            <a:r>
              <a:rPr lang="en-US" dirty="0" err="1"/>
              <a:t>ReactDOM.render</a:t>
            </a:r>
            <a:r>
              <a:rPr lang="en-US" dirty="0"/>
              <a:t>(&lt;App /&gt;, </a:t>
            </a:r>
            <a:r>
              <a:rPr lang="en-US" dirty="0" err="1"/>
              <a:t>rootElement</a:t>
            </a: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New React 18 Method</a:t>
            </a:r>
          </a:p>
          <a:p>
            <a:pPr marL="0" indent="0">
              <a:buNone/>
            </a:pPr>
            <a:r>
              <a:rPr lang="en-US" dirty="0"/>
              <a:t>const root = </a:t>
            </a:r>
            <a:r>
              <a:rPr lang="en-US" dirty="0" err="1"/>
              <a:t>createRoot</a:t>
            </a:r>
            <a:r>
              <a:rPr lang="en-US" dirty="0"/>
              <a:t>(</a:t>
            </a:r>
            <a:r>
              <a:rPr lang="en-US" dirty="0" err="1"/>
              <a:t>rootElement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 err="1"/>
              <a:t>root.render</a:t>
            </a:r>
            <a:r>
              <a:rPr lang="en-US" dirty="0"/>
              <a:t>(&lt;App /&gt;);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Advantages of </a:t>
            </a:r>
            <a:r>
              <a:rPr lang="en-US" b="1" dirty="0" err="1"/>
              <a:t>createRoot</a:t>
            </a:r>
            <a:endParaRPr lang="en-US" b="1" dirty="0"/>
          </a:p>
          <a:p>
            <a:r>
              <a:rPr lang="en-US" dirty="0"/>
              <a:t>Better performance </a:t>
            </a:r>
          </a:p>
          <a:p>
            <a:r>
              <a:rPr lang="en-US" dirty="0"/>
              <a:t>Concurrent rendering </a:t>
            </a:r>
          </a:p>
          <a:p>
            <a:r>
              <a:rPr lang="en-US" dirty="0"/>
              <a:t>Automatic batching </a:t>
            </a:r>
          </a:p>
          <a:p>
            <a:r>
              <a:rPr lang="en-US" dirty="0"/>
              <a:t>Improved responsiveness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4C072-922D-4CCF-1317-36812ECF3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A1DA0-49B0-9A24-D0E4-983B6ACD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F4DD2-D01D-91C3-27D4-3E39BDF3D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76040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335C2-FDEF-422A-E590-40B7883AE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CLASSNAME IN REACT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E6F0C-4FBD-1B88-FE75-3213E4EE2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element that has an HTML class attribute is using </a:t>
            </a:r>
            <a:r>
              <a:rPr lang="en-US" dirty="0" err="1"/>
              <a:t>className</a:t>
            </a:r>
            <a:r>
              <a:rPr lang="en-US" dirty="0"/>
              <a:t> for that property instead of class. </a:t>
            </a:r>
          </a:p>
          <a:p>
            <a:r>
              <a:rPr lang="en-US" dirty="0"/>
              <a:t>Since class is a reserved word in JavaScript, we have to use </a:t>
            </a:r>
            <a:r>
              <a:rPr lang="en-US" dirty="0" err="1"/>
              <a:t>className</a:t>
            </a:r>
            <a:r>
              <a:rPr lang="en-US" dirty="0"/>
              <a:t> to define the class attribute of an HTML element. </a:t>
            </a:r>
          </a:p>
          <a:p>
            <a:endParaRPr lang="en-US" dirty="0"/>
          </a:p>
          <a:p>
            <a:pPr marL="0" indent="0" algn="l">
              <a:buNone/>
            </a:pPr>
            <a:r>
              <a:rPr lang="en-US" b="1" i="0" u="sng" dirty="0">
                <a:solidFill>
                  <a:srgbClr val="008000"/>
                </a:solidFill>
                <a:effectLst/>
                <a:latin typeface="Verdana" panose="020B0604030504040204" pitchFamily="34" charset="0"/>
              </a:rPr>
              <a:t>EXAMPLE I</a:t>
            </a:r>
            <a:endParaRPr lang="en-US" b="0" i="0" dirty="0">
              <a:solidFill>
                <a:srgbClr val="008000"/>
              </a:solidFill>
              <a:effectLst/>
              <a:latin typeface="Verdana" panose="020B0604030504040204" pitchFamily="34" charset="0"/>
            </a:endParaRPr>
          </a:p>
          <a:p>
            <a:pPr marL="0" indent="0" algn="l">
              <a:buNone/>
            </a:pPr>
            <a:r>
              <a:rPr lang="en-US" b="0" i="0" dirty="0">
                <a:solidFill>
                  <a:srgbClr val="008000"/>
                </a:solidFill>
                <a:effectLst/>
                <a:latin typeface="Verdana" panose="020B0604030504040204" pitchFamily="34" charset="0"/>
              </a:rPr>
              <a:t>Let’s create a function that returns an unordered list of ingredients</a:t>
            </a:r>
            <a:r>
              <a:rPr lang="en-US" dirty="0">
                <a:solidFill>
                  <a:srgbClr val="008000"/>
                </a:solidFill>
                <a:latin typeface="Verdana" panose="020B0604030504040204" pitchFamily="34" charset="0"/>
              </a:rPr>
              <a:t> </a:t>
            </a:r>
            <a:r>
              <a:rPr lang="en-US" b="0" i="0" dirty="0">
                <a:solidFill>
                  <a:srgbClr val="008000"/>
                </a:solidFill>
                <a:effectLst/>
                <a:latin typeface="Verdana" panose="020B0604030504040204" pitchFamily="34" charset="0"/>
              </a:rPr>
              <a:t>dessert with a function called 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Verdana" panose="020B0604030504040204" pitchFamily="34" charset="0"/>
              </a:rPr>
              <a:t>IngredientsList</a:t>
            </a:r>
            <a:endParaRPr lang="en-US" b="0" i="0" dirty="0">
              <a:solidFill>
                <a:srgbClr val="008000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64366-AF6F-CF99-0F59-EBE267924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113AF-206D-8E96-0521-CA00DA96E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25E9E-84B6-63D4-20FA-43F635DBE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4749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B0EA5-6870-8FE3-FAF6-35A53B7E4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</a:t>
            </a:r>
            <a:r>
              <a:rPr lang="en-US" dirty="0" err="1"/>
              <a:t>App.jsx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BE721-14A1-3033-8069-8A50EE352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Modify the </a:t>
            </a:r>
            <a:r>
              <a:rPr lang="en-US" dirty="0" err="1"/>
              <a:t>App.jsx</a:t>
            </a:r>
            <a:r>
              <a:rPr lang="en-US" dirty="0"/>
              <a:t> in the existing application as follows </a:t>
            </a:r>
            <a:r>
              <a:rPr lang="en-US" dirty="0" err="1"/>
              <a:t>i.e</a:t>
            </a:r>
            <a:r>
              <a:rPr lang="en-US" dirty="0"/>
              <a:t> replace with the following code:</a:t>
            </a:r>
          </a:p>
          <a:p>
            <a:pPr marL="0" indent="0">
              <a:buNone/>
            </a:pPr>
            <a:endParaRPr lang="en-US" dirty="0"/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import React from "react";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import "./App.css";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function </a:t>
            </a:r>
            <a:r>
              <a:rPr lang="en-US" sz="12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IngredientsList</a:t>
            </a: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() {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return (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      &lt;div&gt;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        &lt;h1&gt;Ingredients&lt;/h1&gt;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    &lt;p&gt;Ingredients list&lt;/p&gt;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E04A8-41F4-ECEF-6C8C-B559F678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B4E31-BE30-57F6-B8DC-BD63F0B2D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CD6C1-6C2B-DCBC-B863-85B4EC478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6685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B9575-B675-D9E7-0C87-6C73F7163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</a:t>
            </a:r>
            <a:r>
              <a:rPr lang="en-US" dirty="0" err="1"/>
              <a:t>App.jsx</a:t>
            </a:r>
            <a:r>
              <a:rPr lang="en-US" dirty="0"/>
              <a:t> contd.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4C6F0-F080-7CE5-84C2-2E328E8CE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    &lt;ul </a:t>
            </a:r>
            <a:r>
              <a:rPr lang="en-US" sz="1200" b="1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className</a:t>
            </a: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="ingredients"&gt;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      &lt;li&gt;1 cup unsalted butter&lt;/li&gt;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      &lt;li&gt;1 cup crunchy peanut butter&lt;/li&gt;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      &lt;li&gt;1 cup brown sugar&lt;/li&gt;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      &lt;li&gt;1 cup white sugar&lt;/li&gt;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      &lt;li&gt;2 eggs&lt;/li&gt;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      &lt;li&gt;2.5 cups all purpose flour&lt;/li&gt;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      &lt;li&gt;1 teaspoon baking powder&lt;/li&gt;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      &lt;li&gt;0.5 teaspoon salt&lt;/li&gt;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    &lt;/ul&gt;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    &lt;/div&gt;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  );</a:t>
            </a:r>
            <a:endParaRPr lang="en-US" sz="1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export default </a:t>
            </a:r>
            <a:r>
              <a:rPr lang="en-US" sz="12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IngredientsList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E1954-98A2-E005-373A-5ED4E0AB1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5490C-1FE0-08E2-D52E-1F62B3CA2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FB3C3-E8B2-3CAF-62FD-0802A7463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11594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C27B3-29F2-05A0-1976-BB8FC467A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</a:t>
            </a:r>
            <a:r>
              <a:rPr lang="en-US" dirty="0" err="1"/>
              <a:t>main.jsx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358EA-95A2-7518-4B1E-CF3865E21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 { 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StrictMode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} from "react";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import { 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createRoot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} from "react-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dom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/client";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import "./index.css";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import 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IngredientsList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from "./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App.jsx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";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createRoot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document.getElementById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("root")).render(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&lt;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StrictMode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 &lt;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IngredientsList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/&gt;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&lt;/</a:t>
            </a:r>
            <a:r>
              <a:rPr lang="en-US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StrictMode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3C20B-3802-230D-3A67-718680166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D3425-8CB1-1BF4-1DDF-48BC44BB7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0F016-0CA6-8017-4B5A-C72FEC6E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02450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75FDB-FAEE-F5AA-9ED3-14241EB53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App.css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A1813-49D6-4983-7AF7-59DD7DDF0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the following code to the existing App.css to remove the list style.</a:t>
            </a:r>
          </a:p>
          <a:p>
            <a:endParaRPr lang="en-US" dirty="0"/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ul li {</a:t>
            </a:r>
            <a:endParaRPr lang="en-US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list-style: none;</a:t>
            </a:r>
            <a:endParaRPr lang="en-US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63DE1-16C0-097C-38B0-0477F0379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C830A2-EDD2-886C-B87A-D489C804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7E018-185D-1FDE-EB47-8FA4BAAC9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39162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E399-6C2F-6030-D62D-9862F13D4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36B1C-0D19-0262-D018-5827AA8A2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14353-F681-1153-7CF4-0B0142D48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D610B-7E15-6FF2-E651-5B8E5A2E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37</a:t>
            </a:fld>
            <a:endParaRPr lang="en-US" alt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E364E28-6FB9-784E-593D-8DFF08D7C9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8225" y="1304336"/>
            <a:ext cx="7572375" cy="4249328"/>
          </a:xfrm>
        </p:spPr>
      </p:pic>
    </p:spTree>
    <p:extLst>
      <p:ext uri="{BB962C8B-B14F-4D97-AF65-F5344CB8AC3E}">
        <p14:creationId xmlns:p14="http://schemas.microsoft.com/office/powerpoint/2010/main" val="37642375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AA57B-C1B3-C986-D3DA-C22DA5814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Rendering Lists with map()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4A6E2-3FE6-A471-80C9-59F8AF3BA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Create the Items Array</a:t>
            </a:r>
            <a:endParaRPr lang="en-US" dirty="0"/>
          </a:p>
          <a:p>
            <a:pPr algn="l"/>
            <a:r>
              <a:rPr lang="en-US" b="1" i="0" dirty="0">
                <a:solidFill>
                  <a:srgbClr val="414042"/>
                </a:solidFill>
                <a:effectLst/>
                <a:latin typeface="Verdana" panose="020B0604030504040204" pitchFamily="34" charset="0"/>
              </a:rPr>
              <a:t>code</a:t>
            </a:r>
          </a:p>
          <a:p>
            <a:pPr marL="0" indent="0" algn="l">
              <a:buNone/>
            </a:pPr>
            <a: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  <a:t>const items = [</a:t>
            </a:r>
            <a:b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</a:br>
            <a: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  <a:t>"1 cup unsalted butter",</a:t>
            </a:r>
            <a:b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</a:br>
            <a: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  <a:t>"1 cup crunchy peanut butter",</a:t>
            </a:r>
            <a:b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</a:br>
            <a: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  <a:t>"1 cup brown sugar",</a:t>
            </a:r>
            <a:b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</a:br>
            <a: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  <a:t>"1 cup white sugar",</a:t>
            </a:r>
            <a:b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</a:br>
            <a: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  <a:t>"2 eggs",</a:t>
            </a:r>
            <a:b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</a:br>
            <a: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  <a:t>"2.5 cups all purpose flour",</a:t>
            </a:r>
            <a:b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</a:br>
            <a: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  <a:t>"1 teaspoon baking powder",</a:t>
            </a:r>
            <a:b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</a:br>
            <a: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  <a:t>"0.5 teaspoon salt"</a:t>
            </a:r>
            <a:b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</a:br>
            <a:r>
              <a:rPr lang="en-US" sz="1600" b="0" i="0" dirty="0">
                <a:solidFill>
                  <a:srgbClr val="191919"/>
                </a:solidFill>
                <a:effectLst/>
                <a:latin typeface="Verdana" panose="020B0604030504040204" pitchFamily="34" charset="0"/>
              </a:rPr>
              <a:t>];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0F679-3AD9-A6A9-97BC-B23429897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B3C5F-339A-D0A2-DB54-3C6E05678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2E88B-B319-39AE-58FC-4B6751B4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54240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FA2BA-4EB1-9059-4A15-DABC959F7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73E24-201B-60EF-1D18-C418B23B5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914400"/>
            <a:ext cx="8077200" cy="5486400"/>
          </a:xfrm>
        </p:spPr>
        <p:txBody>
          <a:bodyPr/>
          <a:lstStyle/>
          <a:p>
            <a:r>
              <a:rPr lang="en-US" b="1" dirty="0"/>
              <a:t>Rendering Dynamically</a:t>
            </a:r>
            <a:endParaRPr lang="en-US" dirty="0"/>
          </a:p>
          <a:p>
            <a:pPr marL="0" indent="0">
              <a:buNone/>
            </a:pPr>
            <a:r>
              <a:rPr lang="en-US" b="0" i="0" dirty="0">
                <a:solidFill>
                  <a:srgbClr val="008000"/>
                </a:solidFill>
                <a:effectLst/>
                <a:latin typeface="Verdana" panose="020B0604030504040204" pitchFamily="34" charset="0"/>
              </a:rPr>
              <a:t>Then we’ll adjust the </a:t>
            </a:r>
            <a:r>
              <a:rPr lang="en-US" b="0" i="0" dirty="0" err="1">
                <a:solidFill>
                  <a:srgbClr val="008000"/>
                </a:solidFill>
                <a:effectLst/>
                <a:latin typeface="Verdana" panose="020B0604030504040204" pitchFamily="34" charset="0"/>
              </a:rPr>
              <a:t>IngredientsList</a:t>
            </a:r>
            <a:r>
              <a:rPr lang="en-US" b="0" i="0" dirty="0">
                <a:solidFill>
                  <a:srgbClr val="008000"/>
                </a:solidFill>
                <a:effectLst/>
                <a:latin typeface="Verdana" panose="020B0604030504040204" pitchFamily="34" charset="0"/>
              </a:rPr>
              <a:t> component to map over these items, constructing a li for however many items are in the items array:</a:t>
            </a:r>
          </a:p>
          <a:p>
            <a:pPr algn="l"/>
            <a:r>
              <a:rPr lang="en-US" b="1" i="0" dirty="0">
                <a:solidFill>
                  <a:srgbClr val="008000"/>
                </a:solidFill>
                <a:effectLst/>
                <a:latin typeface="Verdana" panose="020B0604030504040204" pitchFamily="34" charset="0"/>
              </a:rPr>
              <a:t>code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function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IngredientsList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return (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&lt;&gt;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&lt;div&gt;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&lt;h1&gt;Ingredients&lt;/h1&gt;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&lt;p&gt;Ingredients list&lt;/p&gt;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&lt;ul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="ingredients"&gt;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{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items.map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((ingredient,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 =&gt; (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  &lt;li key={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}&gt;{ingredient}&lt;/li&gt;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  ))}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  &lt;/ul&gt;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&lt;/div&gt;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&lt;/&gt;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425"/>
              </a:lnSpc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ts val="1425"/>
              </a:lnSpc>
              <a:buNone/>
            </a:pPr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338BE-8780-32A0-F8CF-3495E90D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39F0C-CC1C-9F29-0EB7-523F42A9D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5B130-9B92-2F29-FB0C-3FB9958EA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27328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8A40-AE50-0CC9-6428-DDABAE7A0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</a:t>
            </a:r>
            <a:r>
              <a:rPr lang="en-US" dirty="0" err="1"/>
              <a:t>App.jsx</a:t>
            </a:r>
            <a:r>
              <a:rPr lang="en-US" dirty="0"/>
              <a:t> file.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876A6-8F07-819F-1AC0-796EA1ED9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 React from "react";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 "./App.css";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const items = [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"1 cup unsalted butter",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"1 cup crunchy peanut butter",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"1 cup brown sugar",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"1 cup white sugar",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"2 eggs",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"2.5 cups all purpose flour",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"1 teaspoon baking powder",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"0.5 teaspoon salt",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];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938F3-07F9-5974-6D44-D6D873BC3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BB010-E1E4-FA6C-281E-9A4B009FD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A6BB5-177B-6A86-B47B-BC2DD58F4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81721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CA9A-8DF5-3F1C-D49F-0A92EEC93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</a:t>
            </a:r>
            <a:r>
              <a:rPr lang="en-US" dirty="0" err="1"/>
              <a:t>App.jsx</a:t>
            </a:r>
            <a:r>
              <a:rPr lang="en-US" dirty="0"/>
              <a:t> contd.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2FCF3-DFC4-1650-8941-E94E51645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function </a:t>
            </a:r>
            <a:r>
              <a:rPr lang="en-US" sz="11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IngredientsList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() {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return (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    &lt;div&gt;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  &lt;h1&gt;Ingredients&lt;/h1&gt;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  &lt;p&gt;Ingredients list&lt;/p&gt;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  &lt;ul </a:t>
            </a:r>
            <a:r>
              <a:rPr lang="en-US" sz="11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className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="ingredients"&gt;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    {</a:t>
            </a:r>
            <a:r>
              <a:rPr lang="en-US" sz="11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items.map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((ingredient, </a:t>
            </a:r>
            <a:r>
              <a:rPr lang="en-US" sz="11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=&gt; (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      &lt;li key={</a:t>
            </a:r>
            <a:r>
              <a:rPr lang="en-US" sz="11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}&gt;{ingredient}&lt;/li&gt;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    ))}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  &lt;/ul&gt;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&lt;/div&gt;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  );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export default </a:t>
            </a:r>
            <a:r>
              <a:rPr lang="en-US" sz="11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IngredientsList</a:t>
            </a:r>
            <a:endParaRPr lang="en-US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C2395-E779-FB7A-7C23-E465419DA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E6D47-253A-0F36-4E3A-A079B642F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9FB81-CEC3-53BD-4DDD-37EF8C017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58023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7EC5D-D60F-AA3A-36B9-578E5C911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D7E14-2EF0-CFDA-DAAD-D5685FF3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CDCF8-363F-5A37-3A27-7994647F2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2DC22-589C-0232-6D5A-373E5D5E3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42</a:t>
            </a:fld>
            <a:endParaRPr lang="en-US" alt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B4A15F2-9E29-D8BB-A30D-3C073C2645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990601"/>
            <a:ext cx="8077200" cy="4691292"/>
          </a:xfrm>
        </p:spPr>
      </p:pic>
    </p:spTree>
    <p:extLst>
      <p:ext uri="{BB962C8B-B14F-4D97-AF65-F5344CB8AC3E}">
        <p14:creationId xmlns:p14="http://schemas.microsoft.com/office/powerpoint/2010/main" val="10889644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79E0B-A5DC-4BB5-7F54-CB8D0F2A8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AF8BA-A43D-2C4E-D884-4A8699AAD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Important Concepts</a:t>
            </a:r>
            <a:endParaRPr lang="en-US" dirty="0"/>
          </a:p>
          <a:p>
            <a:pPr lvl="0"/>
            <a:r>
              <a:rPr lang="en-US" dirty="0"/>
              <a:t>map() loops through arrays </a:t>
            </a:r>
          </a:p>
          <a:p>
            <a:pPr lvl="0"/>
            <a:r>
              <a:rPr lang="en-US" dirty="0"/>
              <a:t>key uniquely identifies list items 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Creating our component this way will make the component more flexible. </a:t>
            </a:r>
          </a:p>
          <a:p>
            <a:r>
              <a:rPr lang="en-US" dirty="0">
                <a:effectLst/>
              </a:rPr>
              <a:t>Whether the items array is 1 item or 100 items long, the component will render each as a list item. 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CEEF1-3A9A-4A40-EBE4-5B44AA2E7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157E0-4789-058B-866A-65AED8501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E810D-9393-4AC0-F17F-C91AB21DC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93513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43E66-36ED-47AC-1134-016ACCCF5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JSX (JavaScript XML)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81A0D-041D-8136-B3E0-B06992372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JSX allows HTML inside JavaScript.</a:t>
            </a:r>
          </a:p>
          <a:p>
            <a:pPr marL="0" indent="0">
              <a:buNone/>
            </a:pPr>
            <a:r>
              <a:rPr lang="en-US" b="1" u="sng" dirty="0">
                <a:solidFill>
                  <a:srgbClr val="008000"/>
                </a:solidFill>
                <a:latin typeface="undefined"/>
              </a:rPr>
              <a:t>EXAMPLE I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undefined"/>
              </a:rPr>
              <a:t>const name = 'John Smith’;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undefined"/>
              </a:rPr>
              <a:t>const element = &lt;h1&gt;Hello, {name}&lt;/h1&gt;;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8000"/>
                </a:solidFill>
                <a:latin typeface="undefined"/>
              </a:rPr>
              <a:t>ReactDOM.render</a:t>
            </a:r>
            <a:r>
              <a:rPr lang="en-US" dirty="0">
                <a:solidFill>
                  <a:srgbClr val="008000"/>
                </a:solidFill>
                <a:latin typeface="undefined"/>
              </a:rPr>
              <a:t>(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undefined"/>
              </a:rPr>
              <a:t>element,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8000"/>
                </a:solidFill>
                <a:latin typeface="undefined"/>
              </a:rPr>
              <a:t>document.getElementById</a:t>
            </a:r>
            <a:r>
              <a:rPr lang="en-US" dirty="0">
                <a:solidFill>
                  <a:srgbClr val="008000"/>
                </a:solidFill>
                <a:latin typeface="undefined"/>
              </a:rPr>
              <a:t>('root')</a:t>
            </a: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undefined"/>
              </a:rPr>
              <a:t>);</a:t>
            </a:r>
          </a:p>
          <a:p>
            <a:r>
              <a:rPr lang="en-US" dirty="0">
                <a:solidFill>
                  <a:srgbClr val="008000"/>
                </a:solidFill>
                <a:latin typeface="undefined"/>
              </a:rPr>
              <a:t>In the second line, we call the </a:t>
            </a:r>
            <a:r>
              <a:rPr lang="en-US" b="1" dirty="0">
                <a:solidFill>
                  <a:srgbClr val="008000"/>
                </a:solidFill>
                <a:latin typeface="undefined"/>
              </a:rPr>
              <a:t>name </a:t>
            </a:r>
            <a:r>
              <a:rPr lang="en-US" dirty="0">
                <a:solidFill>
                  <a:srgbClr val="008000"/>
                </a:solidFill>
                <a:latin typeface="undefined"/>
              </a:rPr>
              <a:t>variable inside a React element by putting it inside the curly brackets.</a:t>
            </a:r>
          </a:p>
          <a:p>
            <a:r>
              <a:rPr lang="en-US" dirty="0">
                <a:solidFill>
                  <a:srgbClr val="008000"/>
                </a:solidFill>
                <a:latin typeface="undefined"/>
              </a:rPr>
              <a:t>Meanwhile, the </a:t>
            </a:r>
            <a:r>
              <a:rPr lang="en-US" b="1" dirty="0" err="1">
                <a:solidFill>
                  <a:srgbClr val="008000"/>
                </a:solidFill>
                <a:latin typeface="undefined"/>
              </a:rPr>
              <a:t>ReactDOM.render</a:t>
            </a:r>
            <a:r>
              <a:rPr lang="en-US" b="1" dirty="0">
                <a:solidFill>
                  <a:srgbClr val="008000"/>
                </a:solidFill>
                <a:latin typeface="undefined"/>
              </a:rPr>
              <a:t>()</a:t>
            </a:r>
            <a:r>
              <a:rPr lang="en-US" dirty="0">
                <a:solidFill>
                  <a:srgbClr val="008000"/>
                </a:solidFill>
                <a:latin typeface="undefined"/>
              </a:rPr>
              <a:t> function renders the React element on the Document Object Model (DOM) tree, describing the UI.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77BA4-7A3A-242B-F0DA-312D1C4FC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F26F1-F252-E8E9-44FC-C4728180E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ECF7A-A9AD-5DFA-C5E7-EE942815D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29437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F8423-E9E0-9E9D-442B-BBFED9326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</a:t>
            </a:r>
            <a:r>
              <a:rPr lang="en-US" dirty="0" err="1"/>
              <a:t>App.jsx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React Component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C2E67-8256-4D96-F7C1-2A229756D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import React from "react";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import "./App.css";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const </a:t>
            </a:r>
            <a:r>
              <a:rPr lang="en-US" sz="16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HeroSection</a:t>
            </a: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= () =&gt; {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const name = 'John Smith';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const element = &lt;h1&gt;Hello, {name}&lt;/h1&gt;;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return(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&lt;div&gt;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{element}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&lt;/div&gt;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export default </a:t>
            </a:r>
            <a:r>
              <a:rPr lang="en-US" sz="16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HeroSection</a:t>
            </a: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10E7-FE7B-0BE0-7B91-BECFA092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32920-E7CA-9294-F0F0-47EA5C58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7EC9-F7ED-12E4-5B44-506646383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52603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1D340-948B-4F3E-A484-89522ABE3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</a:t>
            </a:r>
            <a:r>
              <a:rPr lang="en-US" dirty="0" err="1"/>
              <a:t>main.jsx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3BCD9-1C57-4EB9-C4A9-5431F4E69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 React, {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StrictMode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} from "react";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 {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createRoot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} from "react-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dom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/client";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 "./index.css";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HeroSection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from "./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App.jsx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"; // Ensure this file exists and is correctly //named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const root =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createRoot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document.getElementById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("root"));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root.render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&lt;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StrictMode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  &lt;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HeroSection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/&gt;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 &lt;/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StrictMode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04D49-8081-2D5E-F061-D9680F96E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08A11-1FDE-4E9D-6B21-196BA1692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91976-60A7-346F-5E46-A88E8FBE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08871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A4B06-511E-E339-3021-4D70ABF7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D485161-28E4-B9CE-DE13-3F6F99CD30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1066800"/>
            <a:ext cx="7696200" cy="454849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356AE-C6E2-740C-87C9-BF54137A0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C09BF-F76A-E2B3-EA7A-C643AC8D4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9E445-2108-804F-ED25-735055C9A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91266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64AE-0195-EECC-91FB-360C09601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JSX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A8F1-F051-DA20-ED8D-B01713007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can use JavaScript expressions inside {}</a:t>
            </a:r>
            <a:endParaRPr lang="en-US" u="sng" dirty="0"/>
          </a:p>
          <a:p>
            <a:pPr marL="0" indent="0">
              <a:buNone/>
            </a:pPr>
            <a:r>
              <a:rPr lang="en-US" u="sng" dirty="0"/>
              <a:t>EXAMPLE II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const </a:t>
            </a:r>
            <a:r>
              <a:rPr lang="en-US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HeroSection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= () =&gt; {</a:t>
            </a:r>
            <a:b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const a = 25;</a:t>
            </a:r>
            <a:b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const b = 75;</a:t>
            </a:r>
            <a:b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return (</a:t>
            </a:r>
            <a:b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&lt;div&gt;</a:t>
            </a:r>
            <a:b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&lt;h1&gt;{ a + b }&lt;/h1&gt;</a:t>
            </a:r>
            <a:b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&lt;/div&gt;</a:t>
            </a:r>
            <a:b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);</a:t>
            </a:r>
            <a:b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022F3-29C4-6F48-F02E-6D3B98673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09499-9294-7497-4CA3-065F0A19C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3878B-81A9-2539-4DDF-286FA47E4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50479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1A20A-D524-FF88-4577-F6D365E9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</a:t>
            </a:r>
            <a:r>
              <a:rPr lang="en-US" dirty="0" err="1"/>
              <a:t>App.jsx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5F5C7-392C-D452-14C2-2B05CFA22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import React from "react";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import "./App.css";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const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HeroSection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= () =&gt; {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const a = 25; const b = 75;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return (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&lt;div&gt;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&lt;h1&gt;{a + b}&lt;/h1&gt;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&lt;/div&gt;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);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export default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HeroSection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F0CB5-F46F-83F8-8E8F-3B192CDC4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0BB70-730E-28DD-DE8F-15C3B3D9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0C152-8490-34FF-7C19-3DD142272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61427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F8EA3-209F-B96E-3881-B4780FA51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</a:t>
            </a:r>
            <a:r>
              <a:rPr lang="en-US" dirty="0" err="1"/>
              <a:t>main.jsx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3CCCD-F609-C5D8-7825-FFEC5DD8C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import React, {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StrictMode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} from "react";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import {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createRoot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} from "react-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dom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/client";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import "./index.css";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import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HeroSection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from "./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App.jsx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"; // Ensure this file exists and is correctly named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const root = 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createRoot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document.getElementById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("root"));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root.render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&lt;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StrictMode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  &lt;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HeroSection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/&gt;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 &lt;/</a:t>
            </a:r>
            <a:r>
              <a:rPr lang="en-US" sz="18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StrictMode</a:t>
            </a: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D9590-F502-122A-9E71-D3629ADCD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58B15-8E9B-87EB-77C9-7889B6663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F1C69-2396-2730-B296-2AD08B901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07218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170C-61B7-20E6-B643-3F3F62758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53B266E-7362-C0D2-EC64-A807CE84F6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1143000"/>
            <a:ext cx="7696200" cy="4464941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3DA19-5475-211E-2849-2B97F2EBB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CCC7B-0C02-DC5E-0984-EB4EF0101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C970C-4833-3DE5-A333-3E0D86438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94322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A4BCD-C71C-CDA1-6659-D1B3F333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723C2-6202-2601-9D42-FB8EF69AC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React uses a Virtual DOM for faster updates.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</a:t>
            </a:r>
            <a:r>
              <a:rPr lang="en-US" sz="2000" b="1" dirty="0"/>
              <a:t>How it Works</a:t>
            </a:r>
          </a:p>
          <a:p>
            <a:r>
              <a:rPr lang="en-US" sz="2000" dirty="0"/>
              <a:t>React creates a lightweight copy of the DOM. </a:t>
            </a:r>
          </a:p>
          <a:p>
            <a:r>
              <a:rPr lang="en-US" sz="2000" dirty="0"/>
              <a:t>Changes are made in the Virtual DOM first. </a:t>
            </a:r>
          </a:p>
          <a:p>
            <a:r>
              <a:rPr lang="en-US" sz="2000" dirty="0"/>
              <a:t>React compares Virtual DOM with real DOM. </a:t>
            </a:r>
          </a:p>
          <a:p>
            <a:r>
              <a:rPr lang="en-US" sz="2000" dirty="0"/>
              <a:t>Only changed elements are updated. </a:t>
            </a:r>
          </a:p>
          <a:p>
            <a:r>
              <a:rPr lang="en-US" sz="2000" dirty="0"/>
              <a:t>This improves performance.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6E1BB-E7F1-72D7-8749-9E88FD0FB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04340-6546-156D-9CFB-003A0AB76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6A5B4-B3C4-BBFD-FF2D-E4F0BFBA3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34300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FF436-62C5-DA4B-02F9-8B01C853E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One-Way Data Binding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87C30-6B90-8AA2-3B13-24AA705C9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 flows: (parent → child):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Benefits</a:t>
            </a:r>
          </a:p>
          <a:p>
            <a:r>
              <a:rPr lang="en-US" dirty="0"/>
              <a:t>Easier debugging </a:t>
            </a:r>
          </a:p>
          <a:p>
            <a:r>
              <a:rPr lang="en-US" dirty="0"/>
              <a:t>Better control </a:t>
            </a:r>
          </a:p>
          <a:p>
            <a:r>
              <a:rPr lang="en-US" dirty="0"/>
              <a:t>Easier maintenance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34186-1F1F-8AA4-4841-C8F1341F2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D74BE-7AE8-7A90-9BBC-4D4A30555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469CB-128F-2516-A2CA-D183217C3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56578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5557D-393B-1B48-8915-BCCB3DA30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Extensions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4C818-1FE5-2D05-41D3-148EEB19F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React supports additional technologies like:</a:t>
            </a:r>
          </a:p>
          <a:p>
            <a:r>
              <a:rPr lang="en-US" dirty="0"/>
              <a:t>Redux </a:t>
            </a:r>
          </a:p>
          <a:p>
            <a:r>
              <a:rPr lang="en-US" dirty="0"/>
              <a:t>Flux </a:t>
            </a:r>
          </a:p>
          <a:p>
            <a:r>
              <a:rPr lang="en-US" dirty="0"/>
              <a:t>React Native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React Native</a:t>
            </a:r>
          </a:p>
          <a:p>
            <a:pPr marL="0" indent="0">
              <a:buNone/>
            </a:pPr>
            <a:r>
              <a:rPr lang="en-US" dirty="0"/>
              <a:t>Used for building:</a:t>
            </a:r>
          </a:p>
          <a:p>
            <a:r>
              <a:rPr lang="en-US" dirty="0"/>
              <a:t>iOS apps </a:t>
            </a:r>
          </a:p>
          <a:p>
            <a:r>
              <a:rPr lang="en-US" dirty="0"/>
              <a:t>Android apps </a:t>
            </a:r>
          </a:p>
          <a:p>
            <a:r>
              <a:rPr lang="en-US" dirty="0"/>
              <a:t>using shared React code.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F9E9-C6F4-A2F0-BEF0-785F059BF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9B7BF-4F00-4080-4BA3-BEFAE407B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BA413-DE80-F894-C26F-A9F74F442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774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D7556-DC87-4B5D-0932-84C93FCBE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E7D9-E95F-9C8A-E7D3-54C8E1046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React:</a:t>
            </a:r>
          </a:p>
          <a:p>
            <a:r>
              <a:rPr lang="en-US" dirty="0"/>
              <a:t>Builds modern user interfaces </a:t>
            </a:r>
          </a:p>
          <a:p>
            <a:r>
              <a:rPr lang="en-US" dirty="0"/>
              <a:t>Uses reusable components </a:t>
            </a:r>
          </a:p>
          <a:p>
            <a:r>
              <a:rPr lang="en-US" dirty="0"/>
              <a:t>Uses JSX for cleaner code </a:t>
            </a:r>
          </a:p>
          <a:p>
            <a:r>
              <a:rPr lang="en-US" dirty="0"/>
              <a:t>Uses Virtual DOM for speed </a:t>
            </a:r>
          </a:p>
          <a:p>
            <a:r>
              <a:rPr lang="en-US" dirty="0"/>
              <a:t>Supports modern rendering with </a:t>
            </a:r>
            <a:r>
              <a:rPr lang="en-US" dirty="0" err="1"/>
              <a:t>createRoot</a:t>
            </a:r>
            <a:r>
              <a:rPr lang="en-US" dirty="0"/>
              <a:t> </a:t>
            </a:r>
          </a:p>
          <a:p>
            <a:r>
              <a:rPr lang="en-US" dirty="0"/>
              <a:t>Works well for web and mobile applications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FB771-14E1-7C3F-D56B-58B87D0F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9C54A8A-EC83-4BC5-B48C-A23671E55882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EFA75-0530-A6BA-365D-35F3EB92F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Web Application Development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61AD3-0EF4-8CDF-3C01-58BB2607F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CF243-786F-4254-B068-4C9F0B6EA12F}" type="slidenum">
              <a:rPr lang="en-US" altLang="en-US" smtClean="0"/>
              <a:pPr/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874698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10794</TotalTime>
  <Words>2690</Words>
  <Application>Microsoft Office PowerPoint</Application>
  <PresentationFormat>On-screen Show (4:3)</PresentationFormat>
  <Paragraphs>642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8" baseType="lpstr">
      <vt:lpstr>Aptos</vt:lpstr>
      <vt:lpstr>Arial</vt:lpstr>
      <vt:lpstr>Calibri</vt:lpstr>
      <vt:lpstr>Consolas</vt:lpstr>
      <vt:lpstr>Nunito</vt:lpstr>
      <vt:lpstr>Open Sans</vt:lpstr>
      <vt:lpstr>sohne</vt:lpstr>
      <vt:lpstr>source-serif-pro</vt:lpstr>
      <vt:lpstr>Times New Roman</vt:lpstr>
      <vt:lpstr>undefined</vt:lpstr>
      <vt:lpstr>Verdana</vt:lpstr>
      <vt:lpstr>Wingdings</vt:lpstr>
      <vt:lpstr>Default Design</vt:lpstr>
      <vt:lpstr>Web Application Development</vt:lpstr>
      <vt:lpstr>What is React</vt:lpstr>
      <vt:lpstr>create-react-app</vt:lpstr>
      <vt:lpstr>PowerPoint Presentation</vt:lpstr>
      <vt:lpstr>PowerPoint Presentation</vt:lpstr>
      <vt:lpstr>PowerPoint Presentation</vt:lpstr>
      <vt:lpstr>Using Vite</vt:lpstr>
      <vt:lpstr>PowerPoint Presentation</vt:lpstr>
      <vt:lpstr>PowerPoint Presentation</vt:lpstr>
      <vt:lpstr> Configuring Vite - Vite Configuration </vt:lpstr>
      <vt:lpstr>Configuring Vite contd.</vt:lpstr>
      <vt:lpstr>PowerPoint Presentation</vt:lpstr>
      <vt:lpstr>Page Setup</vt:lpstr>
      <vt:lpstr>NPX</vt:lpstr>
      <vt:lpstr>PowerPoint Presentation</vt:lpstr>
      <vt:lpstr>PowerPoint Presentation</vt:lpstr>
      <vt:lpstr>React Features</vt:lpstr>
      <vt:lpstr>PowerPoint Presentation</vt:lpstr>
      <vt:lpstr> Types of components in ReactJS </vt:lpstr>
      <vt:lpstr>Updated App.jsx</vt:lpstr>
      <vt:lpstr>Updated main.jsx</vt:lpstr>
      <vt:lpstr>PowerPoint Presentation</vt:lpstr>
      <vt:lpstr>Class Components</vt:lpstr>
      <vt:lpstr>Updated App.jsx</vt:lpstr>
      <vt:lpstr>Updated main.jsx</vt:lpstr>
      <vt:lpstr>PowerPoint Presentation</vt:lpstr>
      <vt:lpstr>PowerPoint Presentation</vt:lpstr>
      <vt:lpstr>Updated App.jsx</vt:lpstr>
      <vt:lpstr>Updated main.jsx</vt:lpstr>
      <vt:lpstr>PowerPoint Presentation</vt:lpstr>
      <vt:lpstr>ReactDOM.render vs createRoot</vt:lpstr>
      <vt:lpstr>CLASSNAME IN REACT</vt:lpstr>
      <vt:lpstr>Updated App.jsx</vt:lpstr>
      <vt:lpstr>Updated App.jsx contd.</vt:lpstr>
      <vt:lpstr>Updated main.jsx</vt:lpstr>
      <vt:lpstr>Updated App.css</vt:lpstr>
      <vt:lpstr>PowerPoint Presentation</vt:lpstr>
      <vt:lpstr>Rendering Lists with map()</vt:lpstr>
      <vt:lpstr>PowerPoint Presentation</vt:lpstr>
      <vt:lpstr>Updated App.jsx file.</vt:lpstr>
      <vt:lpstr>Updated App.jsx contd.</vt:lpstr>
      <vt:lpstr>Output</vt:lpstr>
      <vt:lpstr>PowerPoint Presentation</vt:lpstr>
      <vt:lpstr>JSX (JavaScript XML)</vt:lpstr>
      <vt:lpstr>Updated App.jsx   React Component Example</vt:lpstr>
      <vt:lpstr>Updated main.jsx</vt:lpstr>
      <vt:lpstr>PowerPoint Presentation</vt:lpstr>
      <vt:lpstr>JSX Expressions</vt:lpstr>
      <vt:lpstr>Updated App.jsx</vt:lpstr>
      <vt:lpstr>Updated main.jsx</vt:lpstr>
      <vt:lpstr>PowerPoint Presentation</vt:lpstr>
      <vt:lpstr>Virtual DOM</vt:lpstr>
      <vt:lpstr> One-Way Data Binding </vt:lpstr>
      <vt:lpstr>React Extensions</vt:lpstr>
      <vt:lpstr>Summary</vt:lpstr>
    </vt:vector>
  </TitlesOfParts>
  <Company>CentennialCollege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ILIA</dc:creator>
  <cp:lastModifiedBy>Blessing Ajiboye</cp:lastModifiedBy>
  <cp:revision>1115</cp:revision>
  <cp:lastPrinted>2026-05-15T17:42:39Z</cp:lastPrinted>
  <dcterms:created xsi:type="dcterms:W3CDTF">2008-05-26T16:51:35Z</dcterms:created>
  <dcterms:modified xsi:type="dcterms:W3CDTF">2026-09-15T17:20:14Z</dcterms:modified>
</cp:coreProperties>
</file>